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Cubao" panose="02000503000000000000" pitchFamily="2" charset="0"/>
      <p:regular r:id="rId16"/>
    </p:embeddedFont>
    <p:embeddedFont>
      <p:font typeface="Public Sans" pitchFamily="2" charset="77"/>
      <p:regular r:id="rId17"/>
    </p:embeddedFont>
    <p:embeddedFont>
      <p:font typeface="Public Sans Bold" pitchFamily="2" charset="77"/>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76" autoAdjust="0"/>
    <p:restoredTop sz="94614" autoAdjust="0"/>
  </p:normalViewPr>
  <p:slideViewPr>
    <p:cSldViewPr>
      <p:cViewPr varScale="1">
        <p:scale>
          <a:sx n="82" d="100"/>
          <a:sy n="82" d="100"/>
        </p:scale>
        <p:origin x="360"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svg"/><Relationship Id="rId3" Type="http://schemas.openxmlformats.org/officeDocument/2006/relationships/image" Target="../media/image2.sv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image" Target="../media/image19.svg"/><Relationship Id="rId2" Type="http://schemas.openxmlformats.org/officeDocument/2006/relationships/image" Target="../media/image1.png"/><Relationship Id="rId16"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svg"/><Relationship Id="rId3" Type="http://schemas.openxmlformats.org/officeDocument/2006/relationships/image" Target="../media/image2.sv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image" Target="../media/image19.svg"/><Relationship Id="rId2" Type="http://schemas.openxmlformats.org/officeDocument/2006/relationships/image" Target="../media/image1.png"/><Relationship Id="rId16"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svg"/><Relationship Id="rId18" Type="http://schemas.openxmlformats.org/officeDocument/2006/relationships/image" Target="../media/image19.svg"/><Relationship Id="rId3" Type="http://schemas.openxmlformats.org/officeDocument/2006/relationships/image" Target="../media/image2.sv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image" Target="../media/image18.png"/><Relationship Id="rId2" Type="http://schemas.openxmlformats.org/officeDocument/2006/relationships/image" Target="../media/image1.png"/><Relationship Id="rId16" Type="http://schemas.openxmlformats.org/officeDocument/2006/relationships/image" Target="../media/image20.jpe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svg"/><Relationship Id="rId18" Type="http://schemas.openxmlformats.org/officeDocument/2006/relationships/image" Target="../media/image19.svg"/><Relationship Id="rId3" Type="http://schemas.openxmlformats.org/officeDocument/2006/relationships/image" Target="../media/image2.sv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image" Target="../media/image18.png"/><Relationship Id="rId2" Type="http://schemas.openxmlformats.org/officeDocument/2006/relationships/image" Target="../media/image1.png"/><Relationship Id="rId16" Type="http://schemas.openxmlformats.org/officeDocument/2006/relationships/image" Target="../media/image21.jpe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svg"/><Relationship Id="rId3" Type="http://schemas.openxmlformats.org/officeDocument/2006/relationships/image" Target="../media/image2.sv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image" Target="../media/image19.svg"/><Relationship Id="rId2" Type="http://schemas.openxmlformats.org/officeDocument/2006/relationships/image" Target="../media/image1.png"/><Relationship Id="rId16"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svg"/><Relationship Id="rId18" Type="http://schemas.openxmlformats.org/officeDocument/2006/relationships/image" Target="../media/image19.svg"/><Relationship Id="rId3" Type="http://schemas.openxmlformats.org/officeDocument/2006/relationships/image" Target="../media/image2.sv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image" Target="../media/image18.png"/><Relationship Id="rId2" Type="http://schemas.openxmlformats.org/officeDocument/2006/relationships/image" Target="../media/image1.png"/><Relationship Id="rId16"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6.pn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22.jpe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svg"/><Relationship Id="rId3" Type="http://schemas.openxmlformats.org/officeDocument/2006/relationships/image" Target="../media/image2.sv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image" Target="../media/image19.svg"/><Relationship Id="rId2" Type="http://schemas.openxmlformats.org/officeDocument/2006/relationships/image" Target="../media/image1.png"/><Relationship Id="rId16"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svg"/><Relationship Id="rId18" Type="http://schemas.openxmlformats.org/officeDocument/2006/relationships/image" Target="../media/image19.svg"/><Relationship Id="rId3" Type="http://schemas.openxmlformats.org/officeDocument/2006/relationships/image" Target="../media/image2.sv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image" Target="../media/image18.png"/><Relationship Id="rId2" Type="http://schemas.openxmlformats.org/officeDocument/2006/relationships/image" Target="../media/image1.png"/><Relationship Id="rId16"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svg"/><Relationship Id="rId3" Type="http://schemas.openxmlformats.org/officeDocument/2006/relationships/image" Target="../media/image2.sv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image" Target="../media/image19.svg"/><Relationship Id="rId2" Type="http://schemas.openxmlformats.org/officeDocument/2006/relationships/image" Target="../media/image1.png"/><Relationship Id="rId16"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svg"/><Relationship Id="rId18" Type="http://schemas.openxmlformats.org/officeDocument/2006/relationships/image" Target="../media/image19.svg"/><Relationship Id="rId3" Type="http://schemas.openxmlformats.org/officeDocument/2006/relationships/image" Target="../media/image2.sv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image" Target="../media/image18.png"/><Relationship Id="rId2" Type="http://schemas.openxmlformats.org/officeDocument/2006/relationships/image" Target="../media/image1.png"/><Relationship Id="rId16" Type="http://schemas.openxmlformats.org/officeDocument/2006/relationships/image" Target="../media/image24.jpe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svg"/><Relationship Id="rId3" Type="http://schemas.openxmlformats.org/officeDocument/2006/relationships/image" Target="../media/image2.sv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image" Target="../media/image19.svg"/><Relationship Id="rId2" Type="http://schemas.openxmlformats.org/officeDocument/2006/relationships/image" Target="../media/image1.png"/><Relationship Id="rId16"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6.png"/></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svg"/><Relationship Id="rId3" Type="http://schemas.openxmlformats.org/officeDocument/2006/relationships/image" Target="../media/image2.svg"/><Relationship Id="rId7" Type="http://schemas.openxmlformats.org/officeDocument/2006/relationships/image" Target="../media/image11.svg"/><Relationship Id="rId12" Type="http://schemas.openxmlformats.org/officeDocument/2006/relationships/image" Target="../media/image14.png"/><Relationship Id="rId17" Type="http://schemas.openxmlformats.org/officeDocument/2006/relationships/image" Target="../media/image19.svg"/><Relationship Id="rId2" Type="http://schemas.openxmlformats.org/officeDocument/2006/relationships/image" Target="../media/image1.png"/><Relationship Id="rId16"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6.pn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361360" y="2090909"/>
            <a:ext cx="19010720" cy="5219568"/>
          </a:xfrm>
          <a:custGeom>
            <a:avLst/>
            <a:gdLst/>
            <a:ahLst/>
            <a:cxnLst/>
            <a:rect l="l" t="t" r="r" b="b"/>
            <a:pathLst>
              <a:path w="19010720" h="5219568">
                <a:moveTo>
                  <a:pt x="0" y="0"/>
                </a:moveTo>
                <a:lnTo>
                  <a:pt x="19010720" y="0"/>
                </a:lnTo>
                <a:lnTo>
                  <a:pt x="19010720" y="5219568"/>
                </a:lnTo>
                <a:lnTo>
                  <a:pt x="0" y="52195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DE"/>
          </a:p>
        </p:txBody>
      </p:sp>
      <p:grpSp>
        <p:nvGrpSpPr>
          <p:cNvPr id="3" name="Group 3"/>
          <p:cNvGrpSpPr/>
          <p:nvPr/>
        </p:nvGrpSpPr>
        <p:grpSpPr>
          <a:xfrm>
            <a:off x="-1562147" y="7078862"/>
            <a:ext cx="21205933" cy="8243149"/>
            <a:chOff x="0" y="0"/>
            <a:chExt cx="5585102" cy="2171035"/>
          </a:xfrm>
        </p:grpSpPr>
        <p:sp>
          <p:nvSpPr>
            <p:cNvPr id="4" name="Freeform 4"/>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txBody>
            <a:bodyPr/>
            <a:lstStyle/>
            <a:p>
              <a:endParaRPr lang="en-DE"/>
            </a:p>
          </p:txBody>
        </p:sp>
        <p:sp>
          <p:nvSpPr>
            <p:cNvPr id="5" name="TextBox 5"/>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sp>
        <p:nvSpPr>
          <p:cNvPr id="6" name="Freeform 6"/>
          <p:cNvSpPr/>
          <p:nvPr/>
        </p:nvSpPr>
        <p:spPr>
          <a:xfrm>
            <a:off x="14224926" y="-395859"/>
            <a:ext cx="4424434" cy="2501816"/>
          </a:xfrm>
          <a:custGeom>
            <a:avLst/>
            <a:gdLst/>
            <a:ahLst/>
            <a:cxnLst/>
            <a:rect l="l" t="t" r="r" b="b"/>
            <a:pathLst>
              <a:path w="4424434" h="2501816">
                <a:moveTo>
                  <a:pt x="0" y="0"/>
                </a:moveTo>
                <a:lnTo>
                  <a:pt x="4424434" y="0"/>
                </a:lnTo>
                <a:lnTo>
                  <a:pt x="4424434" y="2501816"/>
                </a:lnTo>
                <a:lnTo>
                  <a:pt x="0" y="2501816"/>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DE"/>
          </a:p>
        </p:txBody>
      </p:sp>
      <p:sp>
        <p:nvSpPr>
          <p:cNvPr id="7" name="Freeform 7"/>
          <p:cNvSpPr/>
          <p:nvPr/>
        </p:nvSpPr>
        <p:spPr>
          <a:xfrm flipH="1">
            <a:off x="-1318173" y="2069925"/>
            <a:ext cx="3871000" cy="2188874"/>
          </a:xfrm>
          <a:custGeom>
            <a:avLst/>
            <a:gdLst/>
            <a:ahLst/>
            <a:cxnLst/>
            <a:rect l="l" t="t" r="r" b="b"/>
            <a:pathLst>
              <a:path w="3871000" h="2188874">
                <a:moveTo>
                  <a:pt x="3870999" y="0"/>
                </a:moveTo>
                <a:lnTo>
                  <a:pt x="0" y="0"/>
                </a:lnTo>
                <a:lnTo>
                  <a:pt x="0" y="2188874"/>
                </a:lnTo>
                <a:lnTo>
                  <a:pt x="3870999" y="2188874"/>
                </a:lnTo>
                <a:lnTo>
                  <a:pt x="3870999"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DE"/>
          </a:p>
        </p:txBody>
      </p:sp>
      <p:grpSp>
        <p:nvGrpSpPr>
          <p:cNvPr id="8" name="Group 8"/>
          <p:cNvGrpSpPr/>
          <p:nvPr/>
        </p:nvGrpSpPr>
        <p:grpSpPr>
          <a:xfrm>
            <a:off x="553409" y="8615851"/>
            <a:ext cx="17181183" cy="110498"/>
            <a:chOff x="0" y="0"/>
            <a:chExt cx="22908243" cy="147331"/>
          </a:xfrm>
        </p:grpSpPr>
        <p:grpSp>
          <p:nvGrpSpPr>
            <p:cNvPr id="9" name="Group 9"/>
            <p:cNvGrpSpPr/>
            <p:nvPr/>
          </p:nvGrpSpPr>
          <p:grpSpPr>
            <a:xfrm>
              <a:off x="0" y="0"/>
              <a:ext cx="3092220" cy="147331"/>
              <a:chOff x="0" y="0"/>
              <a:chExt cx="610809" cy="29102"/>
            </a:xfrm>
          </p:grpSpPr>
          <p:sp>
            <p:nvSpPr>
              <p:cNvPr id="10" name="Freeform 10"/>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1" name="TextBox 11"/>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3968711"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793723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1190594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5847313"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9816024"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27" name="Freeform 27"/>
          <p:cNvSpPr/>
          <p:nvPr/>
        </p:nvSpPr>
        <p:spPr>
          <a:xfrm flipH="1">
            <a:off x="5018826" y="5626535"/>
            <a:ext cx="8250348" cy="2625111"/>
          </a:xfrm>
          <a:custGeom>
            <a:avLst/>
            <a:gdLst/>
            <a:ahLst/>
            <a:cxnLst/>
            <a:rect l="l" t="t" r="r" b="b"/>
            <a:pathLst>
              <a:path w="8250348" h="2625111">
                <a:moveTo>
                  <a:pt x="8250348" y="0"/>
                </a:moveTo>
                <a:lnTo>
                  <a:pt x="0" y="0"/>
                </a:lnTo>
                <a:lnTo>
                  <a:pt x="0" y="2625111"/>
                </a:lnTo>
                <a:lnTo>
                  <a:pt x="8250348" y="2625111"/>
                </a:lnTo>
                <a:lnTo>
                  <a:pt x="8250348"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DE"/>
          </a:p>
        </p:txBody>
      </p:sp>
      <p:sp>
        <p:nvSpPr>
          <p:cNvPr id="28" name="Freeform 28"/>
          <p:cNvSpPr/>
          <p:nvPr/>
        </p:nvSpPr>
        <p:spPr>
          <a:xfrm>
            <a:off x="1127577" y="3320833"/>
            <a:ext cx="778068" cy="4425029"/>
          </a:xfrm>
          <a:custGeom>
            <a:avLst/>
            <a:gdLst/>
            <a:ahLst/>
            <a:cxnLst/>
            <a:rect l="l" t="t" r="r" b="b"/>
            <a:pathLst>
              <a:path w="778068" h="4425029">
                <a:moveTo>
                  <a:pt x="0" y="0"/>
                </a:moveTo>
                <a:lnTo>
                  <a:pt x="778068" y="0"/>
                </a:lnTo>
                <a:lnTo>
                  <a:pt x="778068" y="4425029"/>
                </a:lnTo>
                <a:lnTo>
                  <a:pt x="0" y="4425029"/>
                </a:lnTo>
                <a:lnTo>
                  <a:pt x="0" y="0"/>
                </a:lnTo>
                <a:close/>
              </a:path>
            </a:pathLst>
          </a:custGeom>
          <a:blipFill>
            <a:blip r:embed="rId8"/>
            <a:stretch>
              <a:fillRect/>
            </a:stretch>
          </a:blipFill>
        </p:spPr>
        <p:txBody>
          <a:bodyPr/>
          <a:lstStyle/>
          <a:p>
            <a:endParaRPr lang="en-DE"/>
          </a:p>
        </p:txBody>
      </p:sp>
      <p:sp>
        <p:nvSpPr>
          <p:cNvPr id="29" name="TextBox 29"/>
          <p:cNvSpPr txBox="1"/>
          <p:nvPr/>
        </p:nvSpPr>
        <p:spPr>
          <a:xfrm>
            <a:off x="2937954" y="1504540"/>
            <a:ext cx="12412092" cy="1952300"/>
          </a:xfrm>
          <a:prstGeom prst="rect">
            <a:avLst/>
          </a:prstGeom>
        </p:spPr>
        <p:txBody>
          <a:bodyPr lIns="0" tIns="0" rIns="0" bIns="0" rtlCol="0" anchor="t">
            <a:spAutoFit/>
          </a:bodyPr>
          <a:lstStyle/>
          <a:p>
            <a:pPr algn="ctr">
              <a:lnSpc>
                <a:spcPts val="12416"/>
              </a:lnSpc>
            </a:pPr>
            <a:r>
              <a:rPr lang="en-US" sz="16555">
                <a:solidFill>
                  <a:srgbClr val="FFFFFF"/>
                </a:solidFill>
                <a:latin typeface="Cubao"/>
                <a:ea typeface="Cubao"/>
                <a:cs typeface="Cubao"/>
                <a:sym typeface="Cubao"/>
              </a:rPr>
              <a:t>MOVEWITH</a:t>
            </a:r>
          </a:p>
        </p:txBody>
      </p:sp>
      <p:sp>
        <p:nvSpPr>
          <p:cNvPr id="30" name="Freeform 30"/>
          <p:cNvSpPr/>
          <p:nvPr/>
        </p:nvSpPr>
        <p:spPr>
          <a:xfrm rot="1574474">
            <a:off x="1469179" y="1742224"/>
            <a:ext cx="323464" cy="308100"/>
          </a:xfrm>
          <a:custGeom>
            <a:avLst/>
            <a:gdLst/>
            <a:ahLst/>
            <a:cxnLst/>
            <a:rect l="l" t="t" r="r" b="b"/>
            <a:pathLst>
              <a:path w="323464" h="308100">
                <a:moveTo>
                  <a:pt x="0" y="0"/>
                </a:moveTo>
                <a:lnTo>
                  <a:pt x="323464" y="0"/>
                </a:lnTo>
                <a:lnTo>
                  <a:pt x="323464" y="308099"/>
                </a:lnTo>
                <a:lnTo>
                  <a:pt x="0" y="30809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DE"/>
          </a:p>
        </p:txBody>
      </p:sp>
      <p:sp>
        <p:nvSpPr>
          <p:cNvPr id="31" name="Freeform 31"/>
          <p:cNvSpPr/>
          <p:nvPr/>
        </p:nvSpPr>
        <p:spPr>
          <a:xfrm rot="-795656">
            <a:off x="16468167" y="3248662"/>
            <a:ext cx="323464" cy="308100"/>
          </a:xfrm>
          <a:custGeom>
            <a:avLst/>
            <a:gdLst/>
            <a:ahLst/>
            <a:cxnLst/>
            <a:rect l="l" t="t" r="r" b="b"/>
            <a:pathLst>
              <a:path w="323464" h="308100">
                <a:moveTo>
                  <a:pt x="0" y="0"/>
                </a:moveTo>
                <a:lnTo>
                  <a:pt x="323464" y="0"/>
                </a:lnTo>
                <a:lnTo>
                  <a:pt x="323464" y="308099"/>
                </a:lnTo>
                <a:lnTo>
                  <a:pt x="0" y="30809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DE"/>
          </a:p>
        </p:txBody>
      </p:sp>
      <p:sp>
        <p:nvSpPr>
          <p:cNvPr id="32" name="Freeform 32"/>
          <p:cNvSpPr/>
          <p:nvPr/>
        </p:nvSpPr>
        <p:spPr>
          <a:xfrm rot="-795656">
            <a:off x="5634223" y="975557"/>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DE"/>
          </a:p>
        </p:txBody>
      </p:sp>
      <p:sp>
        <p:nvSpPr>
          <p:cNvPr id="33" name="Freeform 33"/>
          <p:cNvSpPr/>
          <p:nvPr/>
        </p:nvSpPr>
        <p:spPr>
          <a:xfrm rot="-795656">
            <a:off x="12163516" y="1100914"/>
            <a:ext cx="127239" cy="121195"/>
          </a:xfrm>
          <a:custGeom>
            <a:avLst/>
            <a:gdLst/>
            <a:ahLst/>
            <a:cxnLst/>
            <a:rect l="l" t="t" r="r" b="b"/>
            <a:pathLst>
              <a:path w="127239" h="121195">
                <a:moveTo>
                  <a:pt x="0" y="0"/>
                </a:moveTo>
                <a:lnTo>
                  <a:pt x="127239" y="0"/>
                </a:lnTo>
                <a:lnTo>
                  <a:pt x="127239" y="121195"/>
                </a:lnTo>
                <a:lnTo>
                  <a:pt x="0" y="12119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DE"/>
          </a:p>
        </p:txBody>
      </p:sp>
      <p:sp>
        <p:nvSpPr>
          <p:cNvPr id="34" name="TextBox 34"/>
          <p:cNvSpPr txBox="1"/>
          <p:nvPr/>
        </p:nvSpPr>
        <p:spPr>
          <a:xfrm>
            <a:off x="3134537" y="3158234"/>
            <a:ext cx="12018926" cy="2468301"/>
          </a:xfrm>
          <a:prstGeom prst="rect">
            <a:avLst/>
          </a:prstGeom>
        </p:spPr>
        <p:txBody>
          <a:bodyPr lIns="0" tIns="0" rIns="0" bIns="0" rtlCol="0" anchor="t">
            <a:spAutoFit/>
          </a:bodyPr>
          <a:lstStyle/>
          <a:p>
            <a:pPr algn="ctr">
              <a:lnSpc>
                <a:spcPts val="15604"/>
              </a:lnSpc>
            </a:pPr>
            <a:r>
              <a:rPr lang="en-US" sz="20805">
                <a:solidFill>
                  <a:srgbClr val="F9C324"/>
                </a:solidFill>
                <a:latin typeface="Cubao"/>
                <a:ea typeface="Cubao"/>
                <a:cs typeface="Cubao"/>
                <a:sym typeface="Cubao"/>
              </a:rPr>
              <a:t>ME</a:t>
            </a:r>
          </a:p>
        </p:txBody>
      </p:sp>
      <p:sp>
        <p:nvSpPr>
          <p:cNvPr id="35" name="TextBox 35"/>
          <p:cNvSpPr txBox="1"/>
          <p:nvPr/>
        </p:nvSpPr>
        <p:spPr>
          <a:xfrm>
            <a:off x="2213990" y="9077325"/>
            <a:ext cx="13436550" cy="1030158"/>
          </a:xfrm>
          <a:prstGeom prst="rect">
            <a:avLst/>
          </a:prstGeom>
        </p:spPr>
        <p:txBody>
          <a:bodyPr lIns="0" tIns="0" rIns="0" bIns="0" rtlCol="0" anchor="t">
            <a:spAutoFit/>
          </a:bodyPr>
          <a:lstStyle/>
          <a:p>
            <a:pPr algn="ctr">
              <a:lnSpc>
                <a:spcPts val="4119"/>
              </a:lnSpc>
            </a:pPr>
            <a:r>
              <a:rPr lang="en-US" sz="2942">
                <a:solidFill>
                  <a:srgbClr val="EFEFEF"/>
                </a:solidFill>
                <a:latin typeface="Public Sans"/>
                <a:ea typeface="Public Sans"/>
                <a:cs typeface="Public Sans"/>
                <a:sym typeface="Public Sans"/>
              </a:rPr>
              <a:t>Enterprise Application Engineering</a:t>
            </a:r>
          </a:p>
          <a:p>
            <a:pPr algn="ctr">
              <a:lnSpc>
                <a:spcPts val="4119"/>
              </a:lnSpc>
              <a:spcBef>
                <a:spcPct val="0"/>
              </a:spcBef>
            </a:pPr>
            <a:r>
              <a:rPr lang="en-US" sz="2942">
                <a:solidFill>
                  <a:srgbClr val="EFEFEF"/>
                </a:solidFill>
                <a:latin typeface="Public Sans"/>
                <a:ea typeface="Public Sans"/>
                <a:cs typeface="Public Sans"/>
                <a:sym typeface="Public Sans"/>
              </a:rPr>
              <a:t>Group 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06333" y="4342989"/>
            <a:ext cx="19500667" cy="5354087"/>
          </a:xfrm>
          <a:custGeom>
            <a:avLst/>
            <a:gdLst/>
            <a:ahLst/>
            <a:cxnLst/>
            <a:rect l="l" t="t" r="r" b="b"/>
            <a:pathLst>
              <a:path w="19500667" h="5354087">
                <a:moveTo>
                  <a:pt x="0" y="0"/>
                </a:moveTo>
                <a:lnTo>
                  <a:pt x="19500666" y="0"/>
                </a:lnTo>
                <a:lnTo>
                  <a:pt x="19500666" y="5354088"/>
                </a:lnTo>
                <a:lnTo>
                  <a:pt x="0" y="5354088"/>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txBody>
          <a:bodyPr/>
          <a:lstStyle/>
          <a:p>
            <a:endParaRPr lang="en-DE"/>
          </a:p>
        </p:txBody>
      </p:sp>
      <p:sp>
        <p:nvSpPr>
          <p:cNvPr id="3" name="Freeform 3"/>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DE"/>
          </a:p>
        </p:txBody>
      </p:sp>
      <p:grpSp>
        <p:nvGrpSpPr>
          <p:cNvPr id="4" name="Group 4"/>
          <p:cNvGrpSpPr/>
          <p:nvPr/>
        </p:nvGrpSpPr>
        <p:grpSpPr>
          <a:xfrm>
            <a:off x="1028700" y="1624115"/>
            <a:ext cx="16230600" cy="7634185"/>
            <a:chOff x="0" y="0"/>
            <a:chExt cx="4274726" cy="2010650"/>
          </a:xfrm>
        </p:grpSpPr>
        <p:sp>
          <p:nvSpPr>
            <p:cNvPr id="5" name="Freeform 5"/>
            <p:cNvSpPr/>
            <p:nvPr/>
          </p:nvSpPr>
          <p:spPr>
            <a:xfrm>
              <a:off x="0" y="0"/>
              <a:ext cx="4274726" cy="2010650"/>
            </a:xfrm>
            <a:custGeom>
              <a:avLst/>
              <a:gdLst/>
              <a:ahLst/>
              <a:cxnLst/>
              <a:rect l="l" t="t" r="r" b="b"/>
              <a:pathLst>
                <a:path w="4274726" h="2010650">
                  <a:moveTo>
                    <a:pt x="12879" y="0"/>
                  </a:moveTo>
                  <a:lnTo>
                    <a:pt x="4261847" y="0"/>
                  </a:lnTo>
                  <a:cubicBezTo>
                    <a:pt x="4268960" y="0"/>
                    <a:pt x="4274726" y="5766"/>
                    <a:pt x="4274726" y="12879"/>
                  </a:cubicBezTo>
                  <a:lnTo>
                    <a:pt x="4274726" y="1997771"/>
                  </a:lnTo>
                  <a:cubicBezTo>
                    <a:pt x="4274726" y="2001186"/>
                    <a:pt x="4273369" y="2004462"/>
                    <a:pt x="4270954" y="2006878"/>
                  </a:cubicBezTo>
                  <a:cubicBezTo>
                    <a:pt x="4268539" y="2009293"/>
                    <a:pt x="4265263" y="2010650"/>
                    <a:pt x="4261847" y="2010650"/>
                  </a:cubicBezTo>
                  <a:lnTo>
                    <a:pt x="12879" y="2010650"/>
                  </a:lnTo>
                  <a:cubicBezTo>
                    <a:pt x="5766" y="2010650"/>
                    <a:pt x="0" y="2004883"/>
                    <a:pt x="0" y="1997771"/>
                  </a:cubicBezTo>
                  <a:lnTo>
                    <a:pt x="0" y="12879"/>
                  </a:lnTo>
                  <a:cubicBezTo>
                    <a:pt x="0" y="5766"/>
                    <a:pt x="5766" y="0"/>
                    <a:pt x="12879" y="0"/>
                  </a:cubicBezTo>
                  <a:close/>
                </a:path>
              </a:pathLst>
            </a:custGeom>
            <a:solidFill>
              <a:srgbClr val="FFFFFF"/>
            </a:solidFill>
          </p:spPr>
          <p:txBody>
            <a:bodyPr/>
            <a:lstStyle/>
            <a:p>
              <a:endParaRPr lang="en-DE"/>
            </a:p>
          </p:txBody>
        </p:sp>
        <p:sp>
          <p:nvSpPr>
            <p:cNvPr id="6" name="TextBox 6"/>
            <p:cNvSpPr txBox="1"/>
            <p:nvPr/>
          </p:nvSpPr>
          <p:spPr>
            <a:xfrm>
              <a:off x="0" y="-38100"/>
              <a:ext cx="4274726" cy="204875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DE"/>
          </a:p>
        </p:txBody>
      </p:sp>
      <p:grpSp>
        <p:nvGrpSpPr>
          <p:cNvPr id="8" name="Group 8"/>
          <p:cNvGrpSpPr/>
          <p:nvPr/>
        </p:nvGrpSpPr>
        <p:grpSpPr>
          <a:xfrm>
            <a:off x="-1562147" y="9258300"/>
            <a:ext cx="21205933" cy="8243149"/>
            <a:chOff x="0" y="0"/>
            <a:chExt cx="5585102" cy="2171035"/>
          </a:xfrm>
        </p:grpSpPr>
        <p:sp>
          <p:nvSpPr>
            <p:cNvPr id="9" name="Freeform 9"/>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txBody>
            <a:bodyPr/>
            <a:lstStyle/>
            <a:p>
              <a:endParaRPr lang="en-DE"/>
            </a:p>
          </p:txBody>
        </p:sp>
        <p:sp>
          <p:nvSpPr>
            <p:cNvPr id="10" name="TextBox 10"/>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1" name="Group 11"/>
          <p:cNvGrpSpPr/>
          <p:nvPr/>
        </p:nvGrpSpPr>
        <p:grpSpPr>
          <a:xfrm>
            <a:off x="553409" y="9739067"/>
            <a:ext cx="17181183" cy="110498"/>
            <a:chOff x="0" y="0"/>
            <a:chExt cx="22908243" cy="147331"/>
          </a:xfrm>
        </p:grpSpPr>
        <p:grpSp>
          <p:nvGrpSpPr>
            <p:cNvPr id="12" name="Group 12"/>
            <p:cNvGrpSpPr/>
            <p:nvPr/>
          </p:nvGrpSpPr>
          <p:grpSpPr>
            <a:xfrm>
              <a:off x="0"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96871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793723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0594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5847313"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9816024"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0" name="Freeform 30"/>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1" name="Freeform 31"/>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DE"/>
          </a:p>
        </p:txBody>
      </p:sp>
      <p:sp>
        <p:nvSpPr>
          <p:cNvPr id="32" name="Freeform 32"/>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DE"/>
          </a:p>
        </p:txBody>
      </p:sp>
      <p:sp>
        <p:nvSpPr>
          <p:cNvPr id="33" name="Freeform 33"/>
          <p:cNvSpPr/>
          <p:nvPr/>
        </p:nvSpPr>
        <p:spPr>
          <a:xfrm rot="-2459989">
            <a:off x="16678542"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DE"/>
          </a:p>
        </p:txBody>
      </p:sp>
      <p:sp>
        <p:nvSpPr>
          <p:cNvPr id="34" name="Freeform 34"/>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6" name="TextBox 36"/>
          <p:cNvSpPr txBox="1"/>
          <p:nvPr/>
        </p:nvSpPr>
        <p:spPr>
          <a:xfrm>
            <a:off x="4133759" y="1181536"/>
            <a:ext cx="5987780" cy="1182342"/>
          </a:xfrm>
          <a:prstGeom prst="rect">
            <a:avLst/>
          </a:prstGeom>
        </p:spPr>
        <p:txBody>
          <a:bodyPr lIns="0" tIns="0" rIns="0" bIns="0" rtlCol="0" anchor="t">
            <a:spAutoFit/>
          </a:bodyPr>
          <a:lstStyle/>
          <a:p>
            <a:pPr marL="0" lvl="0" indent="0" algn="l">
              <a:lnSpc>
                <a:spcPts val="7516"/>
              </a:lnSpc>
              <a:spcBef>
                <a:spcPct val="0"/>
              </a:spcBef>
            </a:pPr>
            <a:r>
              <a:rPr lang="en-US" sz="10021" u="none" strike="noStrike">
                <a:solidFill>
                  <a:srgbClr val="F9C324"/>
                </a:solidFill>
                <a:latin typeface="Cubao"/>
                <a:ea typeface="Cubao"/>
                <a:cs typeface="Cubao"/>
                <a:sym typeface="Cubao"/>
              </a:rPr>
              <a:t>OUR TEAM</a:t>
            </a:r>
          </a:p>
        </p:txBody>
      </p:sp>
      <p:sp>
        <p:nvSpPr>
          <p:cNvPr id="37" name="Freeform 37"/>
          <p:cNvSpPr/>
          <p:nvPr/>
        </p:nvSpPr>
        <p:spPr>
          <a:xfrm>
            <a:off x="12895060" y="8146880"/>
            <a:ext cx="5131370" cy="1931261"/>
          </a:xfrm>
          <a:custGeom>
            <a:avLst/>
            <a:gdLst/>
            <a:ahLst/>
            <a:cxnLst/>
            <a:rect l="l" t="t" r="r" b="b"/>
            <a:pathLst>
              <a:path w="5131370" h="1931261">
                <a:moveTo>
                  <a:pt x="0" y="0"/>
                </a:moveTo>
                <a:lnTo>
                  <a:pt x="5131370" y="0"/>
                </a:lnTo>
                <a:lnTo>
                  <a:pt x="5131370" y="1931261"/>
                </a:lnTo>
                <a:lnTo>
                  <a:pt x="0" y="193126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DE"/>
          </a:p>
        </p:txBody>
      </p:sp>
      <p:graphicFrame>
        <p:nvGraphicFramePr>
          <p:cNvPr id="38" name="Table 37">
            <a:extLst>
              <a:ext uri="{FF2B5EF4-FFF2-40B4-BE49-F238E27FC236}">
                <a16:creationId xmlns:a16="http://schemas.microsoft.com/office/drawing/2014/main" id="{8A481C59-0684-0B2C-D32B-835D695D6B6D}"/>
              </a:ext>
            </a:extLst>
          </p:cNvPr>
          <p:cNvGraphicFramePr>
            <a:graphicFrameLocks noGrp="1"/>
          </p:cNvGraphicFramePr>
          <p:nvPr>
            <p:extLst>
              <p:ext uri="{D42A27DB-BD31-4B8C-83A1-F6EECF244321}">
                <p14:modId xmlns:p14="http://schemas.microsoft.com/office/powerpoint/2010/main" val="3943942843"/>
              </p:ext>
            </p:extLst>
          </p:nvPr>
        </p:nvGraphicFramePr>
        <p:xfrm>
          <a:off x="4263433" y="3359874"/>
          <a:ext cx="12192000" cy="3883152"/>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538406790"/>
                    </a:ext>
                  </a:extLst>
                </a:gridCol>
                <a:gridCol w="6096000">
                  <a:extLst>
                    <a:ext uri="{9D8B030D-6E8A-4147-A177-3AD203B41FA5}">
                      <a16:colId xmlns:a16="http://schemas.microsoft.com/office/drawing/2014/main" val="29625743"/>
                    </a:ext>
                  </a:extLst>
                </a:gridCol>
              </a:tblGrid>
              <a:tr h="554736">
                <a:tc>
                  <a:txBody>
                    <a:bodyPr/>
                    <a:lstStyle/>
                    <a:p>
                      <a:r>
                        <a:rPr lang="en-DE" dirty="0"/>
                        <a:t>Name</a:t>
                      </a:r>
                    </a:p>
                  </a:txBody>
                  <a:tcPr/>
                </a:tc>
                <a:tc>
                  <a:txBody>
                    <a:bodyPr/>
                    <a:lstStyle/>
                    <a:p>
                      <a:r>
                        <a:rPr lang="en-DE" dirty="0"/>
                        <a:t>Role</a:t>
                      </a:r>
                    </a:p>
                  </a:txBody>
                  <a:tcPr/>
                </a:tc>
                <a:extLst>
                  <a:ext uri="{0D108BD9-81ED-4DB2-BD59-A6C34878D82A}">
                    <a16:rowId xmlns:a16="http://schemas.microsoft.com/office/drawing/2014/main" val="3679957313"/>
                  </a:ext>
                </a:extLst>
              </a:tr>
              <a:tr h="554736">
                <a:tc>
                  <a:txBody>
                    <a:bodyPr/>
                    <a:lstStyle/>
                    <a:p>
                      <a:r>
                        <a:rPr lang="en-GB">
                          <a:effectLst/>
                        </a:rPr>
                        <a:t>Md Farhad Hossain</a:t>
                      </a:r>
                    </a:p>
                  </a:txBody>
                  <a:tcPr anchor="ctr"/>
                </a:tc>
                <a:tc>
                  <a:txBody>
                    <a:bodyPr/>
                    <a:lstStyle/>
                    <a:p>
                      <a:r>
                        <a:rPr lang="en-GB">
                          <a:effectLst/>
                        </a:rPr>
                        <a:t>Product Owner &amp; Developer</a:t>
                      </a:r>
                    </a:p>
                  </a:txBody>
                  <a:tcPr anchor="ctr"/>
                </a:tc>
                <a:extLst>
                  <a:ext uri="{0D108BD9-81ED-4DB2-BD59-A6C34878D82A}">
                    <a16:rowId xmlns:a16="http://schemas.microsoft.com/office/drawing/2014/main" val="2848599608"/>
                  </a:ext>
                </a:extLst>
              </a:tr>
              <a:tr h="554736">
                <a:tc>
                  <a:txBody>
                    <a:bodyPr/>
                    <a:lstStyle/>
                    <a:p>
                      <a:r>
                        <a:rPr lang="en-GB">
                          <a:effectLst/>
                        </a:rPr>
                        <a:t>Neha Bobby</a:t>
                      </a:r>
                    </a:p>
                  </a:txBody>
                  <a:tcPr anchor="ctr"/>
                </a:tc>
                <a:tc>
                  <a:txBody>
                    <a:bodyPr/>
                    <a:lstStyle/>
                    <a:p>
                      <a:r>
                        <a:rPr lang="en-GB">
                          <a:effectLst/>
                        </a:rPr>
                        <a:t>Scrum Master &amp; Developer</a:t>
                      </a:r>
                    </a:p>
                  </a:txBody>
                  <a:tcPr anchor="ctr"/>
                </a:tc>
                <a:extLst>
                  <a:ext uri="{0D108BD9-81ED-4DB2-BD59-A6C34878D82A}">
                    <a16:rowId xmlns:a16="http://schemas.microsoft.com/office/drawing/2014/main" val="1203507317"/>
                  </a:ext>
                </a:extLst>
              </a:tr>
              <a:tr h="554736">
                <a:tc>
                  <a:txBody>
                    <a:bodyPr/>
                    <a:lstStyle/>
                    <a:p>
                      <a:r>
                        <a:rPr lang="en-GB">
                          <a:effectLst/>
                        </a:rPr>
                        <a:t>Sudhandra Babu</a:t>
                      </a:r>
                    </a:p>
                  </a:txBody>
                  <a:tcPr anchor="ctr"/>
                </a:tc>
                <a:tc>
                  <a:txBody>
                    <a:bodyPr/>
                    <a:lstStyle/>
                    <a:p>
                      <a:r>
                        <a:rPr lang="en-GB">
                          <a:effectLst/>
                        </a:rPr>
                        <a:t>Developer</a:t>
                      </a:r>
                    </a:p>
                  </a:txBody>
                  <a:tcPr anchor="ctr"/>
                </a:tc>
                <a:extLst>
                  <a:ext uri="{0D108BD9-81ED-4DB2-BD59-A6C34878D82A}">
                    <a16:rowId xmlns:a16="http://schemas.microsoft.com/office/drawing/2014/main" val="142725396"/>
                  </a:ext>
                </a:extLst>
              </a:tr>
              <a:tr h="554736">
                <a:tc>
                  <a:txBody>
                    <a:bodyPr/>
                    <a:lstStyle/>
                    <a:p>
                      <a:r>
                        <a:rPr lang="en-GB">
                          <a:effectLst/>
                        </a:rPr>
                        <a:t>Areeb Hussain</a:t>
                      </a:r>
                    </a:p>
                  </a:txBody>
                  <a:tcPr anchor="ctr"/>
                </a:tc>
                <a:tc>
                  <a:txBody>
                    <a:bodyPr/>
                    <a:lstStyle/>
                    <a:p>
                      <a:r>
                        <a:rPr lang="en-GB">
                          <a:effectLst/>
                        </a:rPr>
                        <a:t>Developer</a:t>
                      </a:r>
                    </a:p>
                  </a:txBody>
                  <a:tcPr anchor="ctr"/>
                </a:tc>
                <a:extLst>
                  <a:ext uri="{0D108BD9-81ED-4DB2-BD59-A6C34878D82A}">
                    <a16:rowId xmlns:a16="http://schemas.microsoft.com/office/drawing/2014/main" val="560877735"/>
                  </a:ext>
                </a:extLst>
              </a:tr>
              <a:tr h="554736">
                <a:tc>
                  <a:txBody>
                    <a:bodyPr/>
                    <a:lstStyle/>
                    <a:p>
                      <a:r>
                        <a:rPr lang="en-GB">
                          <a:effectLst/>
                        </a:rPr>
                        <a:t>Soham Sandeep More</a:t>
                      </a:r>
                    </a:p>
                  </a:txBody>
                  <a:tcPr anchor="ctr"/>
                </a:tc>
                <a:tc>
                  <a:txBody>
                    <a:bodyPr/>
                    <a:lstStyle/>
                    <a:p>
                      <a:r>
                        <a:rPr lang="en-GB">
                          <a:effectLst/>
                        </a:rPr>
                        <a:t>Developer</a:t>
                      </a:r>
                    </a:p>
                  </a:txBody>
                  <a:tcPr anchor="ctr"/>
                </a:tc>
                <a:extLst>
                  <a:ext uri="{0D108BD9-81ED-4DB2-BD59-A6C34878D82A}">
                    <a16:rowId xmlns:a16="http://schemas.microsoft.com/office/drawing/2014/main" val="1114547618"/>
                  </a:ext>
                </a:extLst>
              </a:tr>
              <a:tr h="554736">
                <a:tc>
                  <a:txBody>
                    <a:bodyPr/>
                    <a:lstStyle/>
                    <a:p>
                      <a:r>
                        <a:rPr lang="en-GB">
                          <a:effectLst/>
                        </a:rPr>
                        <a:t>Padmaakarthy Subbulakshmi</a:t>
                      </a:r>
                    </a:p>
                  </a:txBody>
                  <a:tcPr anchor="ctr"/>
                </a:tc>
                <a:tc>
                  <a:txBody>
                    <a:bodyPr/>
                    <a:lstStyle/>
                    <a:p>
                      <a:r>
                        <a:rPr lang="en-GB" dirty="0">
                          <a:effectLst/>
                        </a:rPr>
                        <a:t>Developer</a:t>
                      </a:r>
                    </a:p>
                  </a:txBody>
                  <a:tcPr anchor="ctr"/>
                </a:tc>
                <a:extLst>
                  <a:ext uri="{0D108BD9-81ED-4DB2-BD59-A6C34878D82A}">
                    <a16:rowId xmlns:a16="http://schemas.microsoft.com/office/drawing/2014/main" val="370138690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06333" y="4342989"/>
            <a:ext cx="19500667" cy="5354087"/>
          </a:xfrm>
          <a:custGeom>
            <a:avLst/>
            <a:gdLst/>
            <a:ahLst/>
            <a:cxnLst/>
            <a:rect l="l" t="t" r="r" b="b"/>
            <a:pathLst>
              <a:path w="19500667" h="5354087">
                <a:moveTo>
                  <a:pt x="0" y="0"/>
                </a:moveTo>
                <a:lnTo>
                  <a:pt x="19500666" y="0"/>
                </a:lnTo>
                <a:lnTo>
                  <a:pt x="19500666" y="5354088"/>
                </a:lnTo>
                <a:lnTo>
                  <a:pt x="0" y="5354088"/>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txBody>
          <a:bodyPr/>
          <a:lstStyle/>
          <a:p>
            <a:endParaRPr lang="en-DE"/>
          </a:p>
        </p:txBody>
      </p:sp>
      <p:sp>
        <p:nvSpPr>
          <p:cNvPr id="3" name="Freeform 3"/>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DE"/>
          </a:p>
        </p:txBody>
      </p:sp>
      <p:grpSp>
        <p:nvGrpSpPr>
          <p:cNvPr id="4" name="Group 4"/>
          <p:cNvGrpSpPr/>
          <p:nvPr/>
        </p:nvGrpSpPr>
        <p:grpSpPr>
          <a:xfrm>
            <a:off x="505171" y="1341813"/>
            <a:ext cx="16230600" cy="7634185"/>
            <a:chOff x="0" y="0"/>
            <a:chExt cx="4274726" cy="2010650"/>
          </a:xfrm>
        </p:grpSpPr>
        <p:sp>
          <p:nvSpPr>
            <p:cNvPr id="5" name="Freeform 5"/>
            <p:cNvSpPr/>
            <p:nvPr/>
          </p:nvSpPr>
          <p:spPr>
            <a:xfrm>
              <a:off x="0" y="0"/>
              <a:ext cx="4274726" cy="2010650"/>
            </a:xfrm>
            <a:custGeom>
              <a:avLst/>
              <a:gdLst/>
              <a:ahLst/>
              <a:cxnLst/>
              <a:rect l="l" t="t" r="r" b="b"/>
              <a:pathLst>
                <a:path w="4274726" h="2010650">
                  <a:moveTo>
                    <a:pt x="12879" y="0"/>
                  </a:moveTo>
                  <a:lnTo>
                    <a:pt x="4261847" y="0"/>
                  </a:lnTo>
                  <a:cubicBezTo>
                    <a:pt x="4268960" y="0"/>
                    <a:pt x="4274726" y="5766"/>
                    <a:pt x="4274726" y="12879"/>
                  </a:cubicBezTo>
                  <a:lnTo>
                    <a:pt x="4274726" y="1997771"/>
                  </a:lnTo>
                  <a:cubicBezTo>
                    <a:pt x="4274726" y="2001186"/>
                    <a:pt x="4273369" y="2004462"/>
                    <a:pt x="4270954" y="2006878"/>
                  </a:cubicBezTo>
                  <a:cubicBezTo>
                    <a:pt x="4268539" y="2009293"/>
                    <a:pt x="4265263" y="2010650"/>
                    <a:pt x="4261847" y="2010650"/>
                  </a:cubicBezTo>
                  <a:lnTo>
                    <a:pt x="12879" y="2010650"/>
                  </a:lnTo>
                  <a:cubicBezTo>
                    <a:pt x="5766" y="2010650"/>
                    <a:pt x="0" y="2004883"/>
                    <a:pt x="0" y="1997771"/>
                  </a:cubicBezTo>
                  <a:lnTo>
                    <a:pt x="0" y="12879"/>
                  </a:lnTo>
                  <a:cubicBezTo>
                    <a:pt x="0" y="5766"/>
                    <a:pt x="5766" y="0"/>
                    <a:pt x="12879" y="0"/>
                  </a:cubicBezTo>
                  <a:close/>
                </a:path>
              </a:pathLst>
            </a:custGeom>
            <a:solidFill>
              <a:srgbClr val="FFFFFF"/>
            </a:solidFill>
          </p:spPr>
          <p:txBody>
            <a:bodyPr/>
            <a:lstStyle/>
            <a:p>
              <a:endParaRPr lang="en-DE"/>
            </a:p>
          </p:txBody>
        </p:sp>
        <p:sp>
          <p:nvSpPr>
            <p:cNvPr id="6" name="TextBox 6"/>
            <p:cNvSpPr txBox="1"/>
            <p:nvPr/>
          </p:nvSpPr>
          <p:spPr>
            <a:xfrm>
              <a:off x="0" y="-38100"/>
              <a:ext cx="4274726" cy="204875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DE"/>
          </a:p>
        </p:txBody>
      </p:sp>
      <p:grpSp>
        <p:nvGrpSpPr>
          <p:cNvPr id="8" name="Group 8"/>
          <p:cNvGrpSpPr/>
          <p:nvPr/>
        </p:nvGrpSpPr>
        <p:grpSpPr>
          <a:xfrm>
            <a:off x="-1562147" y="9258300"/>
            <a:ext cx="21205933" cy="8243149"/>
            <a:chOff x="0" y="0"/>
            <a:chExt cx="5585102" cy="2171035"/>
          </a:xfrm>
        </p:grpSpPr>
        <p:sp>
          <p:nvSpPr>
            <p:cNvPr id="9" name="Freeform 9"/>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txBody>
            <a:bodyPr/>
            <a:lstStyle/>
            <a:p>
              <a:endParaRPr lang="en-DE"/>
            </a:p>
          </p:txBody>
        </p:sp>
        <p:sp>
          <p:nvSpPr>
            <p:cNvPr id="10" name="TextBox 10"/>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1" name="Group 11"/>
          <p:cNvGrpSpPr/>
          <p:nvPr/>
        </p:nvGrpSpPr>
        <p:grpSpPr>
          <a:xfrm>
            <a:off x="553409" y="9739067"/>
            <a:ext cx="17181183" cy="110498"/>
            <a:chOff x="0" y="0"/>
            <a:chExt cx="22908243" cy="147331"/>
          </a:xfrm>
        </p:grpSpPr>
        <p:grpSp>
          <p:nvGrpSpPr>
            <p:cNvPr id="12" name="Group 12"/>
            <p:cNvGrpSpPr/>
            <p:nvPr/>
          </p:nvGrpSpPr>
          <p:grpSpPr>
            <a:xfrm>
              <a:off x="0"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96871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793723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0594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5847313"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9816024"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0" name="Freeform 30"/>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1" name="TextBox 31"/>
          <p:cNvSpPr txBox="1"/>
          <p:nvPr/>
        </p:nvSpPr>
        <p:spPr>
          <a:xfrm>
            <a:off x="4939983" y="2771364"/>
            <a:ext cx="10934841" cy="1066800"/>
          </a:xfrm>
          <a:prstGeom prst="rect">
            <a:avLst/>
          </a:prstGeom>
        </p:spPr>
        <p:txBody>
          <a:bodyPr lIns="0" tIns="0" rIns="0" bIns="0" rtlCol="0" anchor="t">
            <a:spAutoFit/>
          </a:bodyPr>
          <a:lstStyle/>
          <a:p>
            <a:pPr marL="647700" lvl="1" indent="-323850" algn="l">
              <a:lnSpc>
                <a:spcPts val="4200"/>
              </a:lnSpc>
              <a:buFont typeface="Arial"/>
              <a:buChar char="•"/>
            </a:pPr>
            <a:r>
              <a:rPr lang="en-US" sz="3000">
                <a:solidFill>
                  <a:srgbClr val="202124"/>
                </a:solidFill>
                <a:latin typeface="Public Sans"/>
                <a:ea typeface="Public Sans"/>
                <a:cs typeface="Public Sans"/>
                <a:sym typeface="Public Sans"/>
              </a:rPr>
              <a:t>ESPW2-1 — Project Setup &amp; Requirements</a:t>
            </a:r>
          </a:p>
          <a:p>
            <a:pPr algn="l">
              <a:lnSpc>
                <a:spcPts val="4200"/>
              </a:lnSpc>
              <a:spcBef>
                <a:spcPct val="0"/>
              </a:spcBef>
            </a:pPr>
            <a:endParaRPr lang="en-US" sz="3000">
              <a:solidFill>
                <a:srgbClr val="202124"/>
              </a:solidFill>
              <a:latin typeface="Public Sans"/>
              <a:ea typeface="Public Sans"/>
              <a:cs typeface="Public Sans"/>
              <a:sym typeface="Public Sans"/>
            </a:endParaRPr>
          </a:p>
        </p:txBody>
      </p:sp>
      <p:sp>
        <p:nvSpPr>
          <p:cNvPr id="32" name="TextBox 32"/>
          <p:cNvSpPr txBox="1"/>
          <p:nvPr/>
        </p:nvSpPr>
        <p:spPr>
          <a:xfrm>
            <a:off x="4939983" y="3605057"/>
            <a:ext cx="10934841" cy="1066800"/>
          </a:xfrm>
          <a:prstGeom prst="rect">
            <a:avLst/>
          </a:prstGeom>
        </p:spPr>
        <p:txBody>
          <a:bodyPr lIns="0" tIns="0" rIns="0" bIns="0" rtlCol="0" anchor="t">
            <a:spAutoFit/>
          </a:bodyPr>
          <a:lstStyle/>
          <a:p>
            <a:pPr marL="647700" lvl="1" indent="-323850" algn="l">
              <a:lnSpc>
                <a:spcPts val="4200"/>
              </a:lnSpc>
              <a:buFont typeface="Arial"/>
              <a:buChar char="•"/>
            </a:pPr>
            <a:r>
              <a:rPr lang="en-US" sz="3000">
                <a:solidFill>
                  <a:srgbClr val="202124"/>
                </a:solidFill>
                <a:latin typeface="Public Sans"/>
                <a:ea typeface="Public Sans"/>
                <a:cs typeface="Public Sans"/>
                <a:sym typeface="Public Sans"/>
              </a:rPr>
              <a:t>ESPW2-2 — Core Ride &amp; Rental Features</a:t>
            </a:r>
          </a:p>
          <a:p>
            <a:pPr algn="l">
              <a:lnSpc>
                <a:spcPts val="4200"/>
              </a:lnSpc>
              <a:spcBef>
                <a:spcPct val="0"/>
              </a:spcBef>
            </a:pPr>
            <a:endParaRPr lang="en-US" sz="3000">
              <a:solidFill>
                <a:srgbClr val="202124"/>
              </a:solidFill>
              <a:latin typeface="Public Sans"/>
              <a:ea typeface="Public Sans"/>
              <a:cs typeface="Public Sans"/>
              <a:sym typeface="Public Sans"/>
            </a:endParaRPr>
          </a:p>
        </p:txBody>
      </p:sp>
      <p:sp>
        <p:nvSpPr>
          <p:cNvPr id="33" name="TextBox 33"/>
          <p:cNvSpPr txBox="1"/>
          <p:nvPr/>
        </p:nvSpPr>
        <p:spPr>
          <a:xfrm>
            <a:off x="4939983" y="4402982"/>
            <a:ext cx="11795788" cy="1066800"/>
          </a:xfrm>
          <a:prstGeom prst="rect">
            <a:avLst/>
          </a:prstGeom>
        </p:spPr>
        <p:txBody>
          <a:bodyPr lIns="0" tIns="0" rIns="0" bIns="0" rtlCol="0" anchor="t">
            <a:spAutoFit/>
          </a:bodyPr>
          <a:lstStyle/>
          <a:p>
            <a:pPr marL="647700" lvl="1" indent="-323850" algn="l">
              <a:lnSpc>
                <a:spcPts val="4200"/>
              </a:lnSpc>
              <a:buFont typeface="Arial"/>
              <a:buChar char="•"/>
            </a:pPr>
            <a:r>
              <a:rPr lang="en-US" sz="3000">
                <a:solidFill>
                  <a:srgbClr val="202124"/>
                </a:solidFill>
                <a:latin typeface="Public Sans"/>
                <a:ea typeface="Public Sans"/>
                <a:cs typeface="Public Sans"/>
                <a:sym typeface="Public Sans"/>
              </a:rPr>
              <a:t>ESPW2-3 — AI Recommendation &amp; Verification System</a:t>
            </a:r>
          </a:p>
          <a:p>
            <a:pPr algn="l">
              <a:lnSpc>
                <a:spcPts val="4200"/>
              </a:lnSpc>
              <a:spcBef>
                <a:spcPct val="0"/>
              </a:spcBef>
            </a:pPr>
            <a:endParaRPr lang="en-US" sz="3000">
              <a:solidFill>
                <a:srgbClr val="202124"/>
              </a:solidFill>
              <a:latin typeface="Public Sans"/>
              <a:ea typeface="Public Sans"/>
              <a:cs typeface="Public Sans"/>
              <a:sym typeface="Public Sans"/>
            </a:endParaRPr>
          </a:p>
        </p:txBody>
      </p:sp>
      <p:sp>
        <p:nvSpPr>
          <p:cNvPr id="34" name="Freeform 34"/>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DE"/>
          </a:p>
        </p:txBody>
      </p:sp>
      <p:sp>
        <p:nvSpPr>
          <p:cNvPr id="35" name="Freeform 35"/>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DE"/>
          </a:p>
        </p:txBody>
      </p:sp>
      <p:sp>
        <p:nvSpPr>
          <p:cNvPr id="36" name="Freeform 36"/>
          <p:cNvSpPr/>
          <p:nvPr/>
        </p:nvSpPr>
        <p:spPr>
          <a:xfrm rot="-2459989">
            <a:off x="16678542"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DE"/>
          </a:p>
        </p:txBody>
      </p:sp>
      <p:sp>
        <p:nvSpPr>
          <p:cNvPr id="37" name="TextBox 37"/>
          <p:cNvSpPr txBox="1"/>
          <p:nvPr/>
        </p:nvSpPr>
        <p:spPr>
          <a:xfrm>
            <a:off x="4018578" y="922092"/>
            <a:ext cx="12777653" cy="1182342"/>
          </a:xfrm>
          <a:prstGeom prst="rect">
            <a:avLst/>
          </a:prstGeom>
        </p:spPr>
        <p:txBody>
          <a:bodyPr lIns="0" tIns="0" rIns="0" bIns="0" rtlCol="0" anchor="t">
            <a:spAutoFit/>
          </a:bodyPr>
          <a:lstStyle/>
          <a:p>
            <a:pPr marL="0" lvl="0" indent="0" algn="l">
              <a:lnSpc>
                <a:spcPts val="7516"/>
              </a:lnSpc>
              <a:spcBef>
                <a:spcPct val="0"/>
              </a:spcBef>
            </a:pPr>
            <a:r>
              <a:rPr lang="en-US" sz="10021">
                <a:solidFill>
                  <a:srgbClr val="F9C324"/>
                </a:solidFill>
                <a:latin typeface="Cubao"/>
                <a:ea typeface="Cubao"/>
                <a:cs typeface="Cubao"/>
                <a:sym typeface="Cubao"/>
              </a:rPr>
              <a:t>EPICS</a:t>
            </a:r>
          </a:p>
        </p:txBody>
      </p:sp>
      <p:sp>
        <p:nvSpPr>
          <p:cNvPr id="38" name="TextBox 38"/>
          <p:cNvSpPr txBox="1"/>
          <p:nvPr/>
        </p:nvSpPr>
        <p:spPr>
          <a:xfrm>
            <a:off x="4349109" y="2893135"/>
            <a:ext cx="478312" cy="879154"/>
          </a:xfrm>
          <a:prstGeom prst="rect">
            <a:avLst/>
          </a:prstGeom>
        </p:spPr>
        <p:txBody>
          <a:bodyPr lIns="0" tIns="0" rIns="0" bIns="0" rtlCol="0" anchor="t">
            <a:spAutoFit/>
          </a:bodyPr>
          <a:lstStyle/>
          <a:p>
            <a:pPr algn="l">
              <a:lnSpc>
                <a:spcPts val="5505"/>
              </a:lnSpc>
            </a:pPr>
            <a:r>
              <a:rPr lang="en-US" sz="7341">
                <a:solidFill>
                  <a:srgbClr val="F9C324"/>
                </a:solidFill>
                <a:latin typeface="Cubao"/>
                <a:ea typeface="Cubao"/>
                <a:cs typeface="Cubao"/>
                <a:sym typeface="Cubao"/>
              </a:rPr>
              <a:t>1</a:t>
            </a:r>
          </a:p>
        </p:txBody>
      </p:sp>
      <p:sp>
        <p:nvSpPr>
          <p:cNvPr id="39" name="TextBox 39"/>
          <p:cNvSpPr txBox="1"/>
          <p:nvPr/>
        </p:nvSpPr>
        <p:spPr>
          <a:xfrm>
            <a:off x="4408890" y="3733319"/>
            <a:ext cx="418531" cy="824716"/>
          </a:xfrm>
          <a:prstGeom prst="rect">
            <a:avLst/>
          </a:prstGeom>
        </p:spPr>
        <p:txBody>
          <a:bodyPr lIns="0" tIns="0" rIns="0" bIns="0" rtlCol="0" anchor="t">
            <a:spAutoFit/>
          </a:bodyPr>
          <a:lstStyle/>
          <a:p>
            <a:pPr algn="l">
              <a:lnSpc>
                <a:spcPts val="5143"/>
              </a:lnSpc>
            </a:pPr>
            <a:r>
              <a:rPr lang="en-US" sz="6858">
                <a:solidFill>
                  <a:srgbClr val="F9C324"/>
                </a:solidFill>
                <a:latin typeface="Cubao"/>
                <a:ea typeface="Cubao"/>
                <a:cs typeface="Cubao"/>
                <a:sym typeface="Cubao"/>
              </a:rPr>
              <a:t>2</a:t>
            </a:r>
          </a:p>
        </p:txBody>
      </p:sp>
      <p:sp>
        <p:nvSpPr>
          <p:cNvPr id="40" name="TextBox 40"/>
          <p:cNvSpPr txBox="1"/>
          <p:nvPr/>
        </p:nvSpPr>
        <p:spPr>
          <a:xfrm>
            <a:off x="4385084" y="4477139"/>
            <a:ext cx="406362" cy="854406"/>
          </a:xfrm>
          <a:prstGeom prst="rect">
            <a:avLst/>
          </a:prstGeom>
        </p:spPr>
        <p:txBody>
          <a:bodyPr lIns="0" tIns="0" rIns="0" bIns="0" rtlCol="0" anchor="t">
            <a:spAutoFit/>
          </a:bodyPr>
          <a:lstStyle/>
          <a:p>
            <a:pPr algn="l">
              <a:lnSpc>
                <a:spcPts val="5336"/>
              </a:lnSpc>
            </a:pPr>
            <a:r>
              <a:rPr lang="en-US" sz="7115">
                <a:solidFill>
                  <a:srgbClr val="F9C324"/>
                </a:solidFill>
                <a:latin typeface="Cubao"/>
                <a:ea typeface="Cubao"/>
                <a:cs typeface="Cubao"/>
                <a:sym typeface="Cubao"/>
              </a:rPr>
              <a:t>3</a:t>
            </a:r>
          </a:p>
        </p:txBody>
      </p:sp>
      <p:sp>
        <p:nvSpPr>
          <p:cNvPr id="41" name="Freeform 41"/>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42" name="TextBox 42"/>
          <p:cNvSpPr txBox="1"/>
          <p:nvPr/>
        </p:nvSpPr>
        <p:spPr>
          <a:xfrm>
            <a:off x="4385084" y="5387505"/>
            <a:ext cx="406362" cy="854406"/>
          </a:xfrm>
          <a:prstGeom prst="rect">
            <a:avLst/>
          </a:prstGeom>
        </p:spPr>
        <p:txBody>
          <a:bodyPr lIns="0" tIns="0" rIns="0" bIns="0" rtlCol="0" anchor="t">
            <a:spAutoFit/>
          </a:bodyPr>
          <a:lstStyle/>
          <a:p>
            <a:pPr algn="l">
              <a:lnSpc>
                <a:spcPts val="5336"/>
              </a:lnSpc>
            </a:pPr>
            <a:r>
              <a:rPr lang="en-US" sz="7115">
                <a:solidFill>
                  <a:srgbClr val="F9C324"/>
                </a:solidFill>
                <a:latin typeface="Cubao"/>
                <a:ea typeface="Cubao"/>
                <a:cs typeface="Cubao"/>
                <a:sym typeface="Cubao"/>
              </a:rPr>
              <a:t>4</a:t>
            </a:r>
          </a:p>
        </p:txBody>
      </p:sp>
      <p:sp>
        <p:nvSpPr>
          <p:cNvPr id="43" name="TextBox 43"/>
          <p:cNvSpPr txBox="1"/>
          <p:nvPr/>
        </p:nvSpPr>
        <p:spPr>
          <a:xfrm>
            <a:off x="4939983" y="5218667"/>
            <a:ext cx="11795788" cy="1066800"/>
          </a:xfrm>
          <a:prstGeom prst="rect">
            <a:avLst/>
          </a:prstGeom>
        </p:spPr>
        <p:txBody>
          <a:bodyPr lIns="0" tIns="0" rIns="0" bIns="0" rtlCol="0" anchor="t">
            <a:spAutoFit/>
          </a:bodyPr>
          <a:lstStyle/>
          <a:p>
            <a:pPr marL="647700" lvl="1" indent="-323850" algn="l">
              <a:lnSpc>
                <a:spcPts val="4200"/>
              </a:lnSpc>
              <a:buFont typeface="Arial"/>
              <a:buChar char="•"/>
            </a:pPr>
            <a:r>
              <a:rPr lang="en-US" sz="3000">
                <a:solidFill>
                  <a:srgbClr val="202124"/>
                </a:solidFill>
                <a:latin typeface="Public Sans"/>
                <a:ea typeface="Public Sans"/>
                <a:cs typeface="Public Sans"/>
                <a:sym typeface="Public Sans"/>
              </a:rPr>
              <a:t>ESPW2-4 — Payment &amp; Security System</a:t>
            </a:r>
          </a:p>
          <a:p>
            <a:pPr algn="l">
              <a:lnSpc>
                <a:spcPts val="4200"/>
              </a:lnSpc>
            </a:pPr>
            <a:endParaRPr lang="en-US" sz="3000">
              <a:solidFill>
                <a:srgbClr val="202124"/>
              </a:solidFill>
              <a:latin typeface="Public Sans"/>
              <a:ea typeface="Public Sans"/>
              <a:cs typeface="Public Sans"/>
              <a:sym typeface="Public Sans"/>
            </a:endParaRPr>
          </a:p>
        </p:txBody>
      </p:sp>
      <p:sp>
        <p:nvSpPr>
          <p:cNvPr id="44" name="TextBox 44"/>
          <p:cNvSpPr txBox="1"/>
          <p:nvPr/>
        </p:nvSpPr>
        <p:spPr>
          <a:xfrm>
            <a:off x="4385084" y="6165627"/>
            <a:ext cx="406362" cy="854406"/>
          </a:xfrm>
          <a:prstGeom prst="rect">
            <a:avLst/>
          </a:prstGeom>
        </p:spPr>
        <p:txBody>
          <a:bodyPr lIns="0" tIns="0" rIns="0" bIns="0" rtlCol="0" anchor="t">
            <a:spAutoFit/>
          </a:bodyPr>
          <a:lstStyle/>
          <a:p>
            <a:pPr algn="l">
              <a:lnSpc>
                <a:spcPts val="5336"/>
              </a:lnSpc>
            </a:pPr>
            <a:r>
              <a:rPr lang="en-US" sz="7115">
                <a:solidFill>
                  <a:srgbClr val="F9C324"/>
                </a:solidFill>
                <a:latin typeface="Cubao"/>
                <a:ea typeface="Cubao"/>
                <a:cs typeface="Cubao"/>
                <a:sym typeface="Cubao"/>
              </a:rPr>
              <a:t>5</a:t>
            </a:r>
          </a:p>
        </p:txBody>
      </p:sp>
      <p:sp>
        <p:nvSpPr>
          <p:cNvPr id="45" name="TextBox 45"/>
          <p:cNvSpPr txBox="1"/>
          <p:nvPr/>
        </p:nvSpPr>
        <p:spPr>
          <a:xfrm>
            <a:off x="4939983" y="6057900"/>
            <a:ext cx="11795788" cy="1066800"/>
          </a:xfrm>
          <a:prstGeom prst="rect">
            <a:avLst/>
          </a:prstGeom>
        </p:spPr>
        <p:txBody>
          <a:bodyPr lIns="0" tIns="0" rIns="0" bIns="0" rtlCol="0" anchor="t">
            <a:spAutoFit/>
          </a:bodyPr>
          <a:lstStyle/>
          <a:p>
            <a:pPr marL="647700" lvl="1" indent="-323850" algn="l">
              <a:lnSpc>
                <a:spcPts val="4200"/>
              </a:lnSpc>
              <a:buFont typeface="Arial"/>
              <a:buChar char="•"/>
            </a:pPr>
            <a:r>
              <a:rPr lang="en-US" sz="3000">
                <a:solidFill>
                  <a:srgbClr val="202124"/>
                </a:solidFill>
                <a:latin typeface="Public Sans"/>
                <a:ea typeface="Public Sans"/>
                <a:cs typeface="Public Sans"/>
                <a:sym typeface="Public Sans"/>
              </a:rPr>
              <a:t>ESPW2-5 — Testing &amp; Quality Assurance</a:t>
            </a:r>
          </a:p>
          <a:p>
            <a:pPr algn="l">
              <a:lnSpc>
                <a:spcPts val="4200"/>
              </a:lnSpc>
            </a:pPr>
            <a:endParaRPr lang="en-US" sz="3000">
              <a:solidFill>
                <a:srgbClr val="202124"/>
              </a:solidFill>
              <a:latin typeface="Public Sans"/>
              <a:ea typeface="Public Sans"/>
              <a:cs typeface="Public Sans"/>
              <a:sym typeface="Public Sans"/>
            </a:endParaRPr>
          </a:p>
        </p:txBody>
      </p:sp>
      <p:sp>
        <p:nvSpPr>
          <p:cNvPr id="46" name="TextBox 46"/>
          <p:cNvSpPr txBox="1"/>
          <p:nvPr/>
        </p:nvSpPr>
        <p:spPr>
          <a:xfrm>
            <a:off x="4939983" y="6828392"/>
            <a:ext cx="11795788" cy="1066800"/>
          </a:xfrm>
          <a:prstGeom prst="rect">
            <a:avLst/>
          </a:prstGeom>
        </p:spPr>
        <p:txBody>
          <a:bodyPr lIns="0" tIns="0" rIns="0" bIns="0" rtlCol="0" anchor="t">
            <a:spAutoFit/>
          </a:bodyPr>
          <a:lstStyle/>
          <a:p>
            <a:pPr marL="647700" lvl="1" indent="-323850" algn="l">
              <a:lnSpc>
                <a:spcPts val="4200"/>
              </a:lnSpc>
              <a:buFont typeface="Arial"/>
              <a:buChar char="•"/>
            </a:pPr>
            <a:r>
              <a:rPr lang="en-US" sz="3000">
                <a:solidFill>
                  <a:srgbClr val="202124"/>
                </a:solidFill>
                <a:latin typeface="Public Sans"/>
                <a:ea typeface="Public Sans"/>
                <a:cs typeface="Public Sans"/>
                <a:sym typeface="Public Sans"/>
              </a:rPr>
              <a:t>ESPW2-6 — Documentation &amp; Presentation</a:t>
            </a:r>
          </a:p>
          <a:p>
            <a:pPr algn="l">
              <a:lnSpc>
                <a:spcPts val="4200"/>
              </a:lnSpc>
            </a:pPr>
            <a:endParaRPr lang="en-US" sz="3000">
              <a:solidFill>
                <a:srgbClr val="202124"/>
              </a:solidFill>
              <a:latin typeface="Public Sans"/>
              <a:ea typeface="Public Sans"/>
              <a:cs typeface="Public Sans"/>
              <a:sym typeface="Public Sans"/>
            </a:endParaRPr>
          </a:p>
        </p:txBody>
      </p:sp>
      <p:sp>
        <p:nvSpPr>
          <p:cNvPr id="47" name="TextBox 47"/>
          <p:cNvSpPr txBox="1"/>
          <p:nvPr/>
        </p:nvSpPr>
        <p:spPr>
          <a:xfrm>
            <a:off x="4421059" y="6858000"/>
            <a:ext cx="406362" cy="854406"/>
          </a:xfrm>
          <a:prstGeom prst="rect">
            <a:avLst/>
          </a:prstGeom>
        </p:spPr>
        <p:txBody>
          <a:bodyPr lIns="0" tIns="0" rIns="0" bIns="0" rtlCol="0" anchor="t">
            <a:spAutoFit/>
          </a:bodyPr>
          <a:lstStyle/>
          <a:p>
            <a:pPr algn="l">
              <a:lnSpc>
                <a:spcPts val="5336"/>
              </a:lnSpc>
            </a:pPr>
            <a:r>
              <a:rPr lang="en-US" sz="7115">
                <a:solidFill>
                  <a:srgbClr val="F9C324"/>
                </a:solidFill>
                <a:latin typeface="Cubao"/>
                <a:ea typeface="Cubao"/>
                <a:cs typeface="Cubao"/>
                <a:sym typeface="Cubao"/>
              </a:rPr>
              <a:t>6</a:t>
            </a:r>
          </a:p>
        </p:txBody>
      </p:sp>
      <p:sp>
        <p:nvSpPr>
          <p:cNvPr id="48" name="Freeform 48"/>
          <p:cNvSpPr/>
          <p:nvPr/>
        </p:nvSpPr>
        <p:spPr>
          <a:xfrm>
            <a:off x="11664861" y="8099255"/>
            <a:ext cx="5131370" cy="1931261"/>
          </a:xfrm>
          <a:custGeom>
            <a:avLst/>
            <a:gdLst/>
            <a:ahLst/>
            <a:cxnLst/>
            <a:rect l="l" t="t" r="r" b="b"/>
            <a:pathLst>
              <a:path w="5131370" h="1931261">
                <a:moveTo>
                  <a:pt x="0" y="0"/>
                </a:moveTo>
                <a:lnTo>
                  <a:pt x="5131369" y="0"/>
                </a:lnTo>
                <a:lnTo>
                  <a:pt x="5131369" y="1931261"/>
                </a:lnTo>
                <a:lnTo>
                  <a:pt x="0" y="193126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D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06333" y="4342989"/>
            <a:ext cx="19500667" cy="5354087"/>
          </a:xfrm>
          <a:custGeom>
            <a:avLst/>
            <a:gdLst/>
            <a:ahLst/>
            <a:cxnLst/>
            <a:rect l="l" t="t" r="r" b="b"/>
            <a:pathLst>
              <a:path w="19500667" h="5354087">
                <a:moveTo>
                  <a:pt x="0" y="0"/>
                </a:moveTo>
                <a:lnTo>
                  <a:pt x="19500666" y="0"/>
                </a:lnTo>
                <a:lnTo>
                  <a:pt x="19500666" y="5354088"/>
                </a:lnTo>
                <a:lnTo>
                  <a:pt x="0" y="5354088"/>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txBody>
          <a:bodyPr/>
          <a:lstStyle/>
          <a:p>
            <a:endParaRPr lang="en-DE"/>
          </a:p>
        </p:txBody>
      </p:sp>
      <p:sp>
        <p:nvSpPr>
          <p:cNvPr id="3" name="Freeform 3"/>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DE"/>
          </a:p>
        </p:txBody>
      </p:sp>
      <p:grpSp>
        <p:nvGrpSpPr>
          <p:cNvPr id="4" name="Group 4"/>
          <p:cNvGrpSpPr/>
          <p:nvPr/>
        </p:nvGrpSpPr>
        <p:grpSpPr>
          <a:xfrm>
            <a:off x="1158458" y="1577457"/>
            <a:ext cx="16230600" cy="7634185"/>
            <a:chOff x="0" y="0"/>
            <a:chExt cx="4274726" cy="2010650"/>
          </a:xfrm>
        </p:grpSpPr>
        <p:sp>
          <p:nvSpPr>
            <p:cNvPr id="5" name="Freeform 5"/>
            <p:cNvSpPr/>
            <p:nvPr/>
          </p:nvSpPr>
          <p:spPr>
            <a:xfrm>
              <a:off x="0" y="0"/>
              <a:ext cx="4274726" cy="2010650"/>
            </a:xfrm>
            <a:custGeom>
              <a:avLst/>
              <a:gdLst/>
              <a:ahLst/>
              <a:cxnLst/>
              <a:rect l="l" t="t" r="r" b="b"/>
              <a:pathLst>
                <a:path w="4274726" h="2010650">
                  <a:moveTo>
                    <a:pt x="12879" y="0"/>
                  </a:moveTo>
                  <a:lnTo>
                    <a:pt x="4261847" y="0"/>
                  </a:lnTo>
                  <a:cubicBezTo>
                    <a:pt x="4268960" y="0"/>
                    <a:pt x="4274726" y="5766"/>
                    <a:pt x="4274726" y="12879"/>
                  </a:cubicBezTo>
                  <a:lnTo>
                    <a:pt x="4274726" y="1997771"/>
                  </a:lnTo>
                  <a:cubicBezTo>
                    <a:pt x="4274726" y="2001186"/>
                    <a:pt x="4273369" y="2004462"/>
                    <a:pt x="4270954" y="2006878"/>
                  </a:cubicBezTo>
                  <a:cubicBezTo>
                    <a:pt x="4268539" y="2009293"/>
                    <a:pt x="4265263" y="2010650"/>
                    <a:pt x="4261847" y="2010650"/>
                  </a:cubicBezTo>
                  <a:lnTo>
                    <a:pt x="12879" y="2010650"/>
                  </a:lnTo>
                  <a:cubicBezTo>
                    <a:pt x="5766" y="2010650"/>
                    <a:pt x="0" y="2004883"/>
                    <a:pt x="0" y="1997771"/>
                  </a:cubicBezTo>
                  <a:lnTo>
                    <a:pt x="0" y="12879"/>
                  </a:lnTo>
                  <a:cubicBezTo>
                    <a:pt x="0" y="5766"/>
                    <a:pt x="5766" y="0"/>
                    <a:pt x="12879" y="0"/>
                  </a:cubicBezTo>
                  <a:close/>
                </a:path>
              </a:pathLst>
            </a:custGeom>
            <a:solidFill>
              <a:srgbClr val="FFFFFF"/>
            </a:solidFill>
          </p:spPr>
          <p:txBody>
            <a:bodyPr/>
            <a:lstStyle/>
            <a:p>
              <a:endParaRPr lang="en-DE"/>
            </a:p>
          </p:txBody>
        </p:sp>
        <p:sp>
          <p:nvSpPr>
            <p:cNvPr id="6" name="TextBox 6"/>
            <p:cNvSpPr txBox="1"/>
            <p:nvPr/>
          </p:nvSpPr>
          <p:spPr>
            <a:xfrm>
              <a:off x="0" y="-38100"/>
              <a:ext cx="4274726" cy="204875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DE"/>
          </a:p>
        </p:txBody>
      </p:sp>
      <p:grpSp>
        <p:nvGrpSpPr>
          <p:cNvPr id="8" name="Group 8"/>
          <p:cNvGrpSpPr/>
          <p:nvPr/>
        </p:nvGrpSpPr>
        <p:grpSpPr>
          <a:xfrm>
            <a:off x="-1562147" y="9258300"/>
            <a:ext cx="21205933" cy="8243149"/>
            <a:chOff x="0" y="0"/>
            <a:chExt cx="5585102" cy="2171035"/>
          </a:xfrm>
        </p:grpSpPr>
        <p:sp>
          <p:nvSpPr>
            <p:cNvPr id="9" name="Freeform 9"/>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txBody>
            <a:bodyPr/>
            <a:lstStyle/>
            <a:p>
              <a:endParaRPr lang="en-DE"/>
            </a:p>
          </p:txBody>
        </p:sp>
        <p:sp>
          <p:nvSpPr>
            <p:cNvPr id="10" name="TextBox 10"/>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1" name="Group 11"/>
          <p:cNvGrpSpPr/>
          <p:nvPr/>
        </p:nvGrpSpPr>
        <p:grpSpPr>
          <a:xfrm>
            <a:off x="553409" y="9739067"/>
            <a:ext cx="17181183" cy="110498"/>
            <a:chOff x="0" y="0"/>
            <a:chExt cx="22908243" cy="147331"/>
          </a:xfrm>
        </p:grpSpPr>
        <p:grpSp>
          <p:nvGrpSpPr>
            <p:cNvPr id="12" name="Group 12"/>
            <p:cNvGrpSpPr/>
            <p:nvPr/>
          </p:nvGrpSpPr>
          <p:grpSpPr>
            <a:xfrm>
              <a:off x="0"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96871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793723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0594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5847313"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9816024"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0" name="Freeform 30"/>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1" name="TextBox 31"/>
          <p:cNvSpPr txBox="1"/>
          <p:nvPr/>
        </p:nvSpPr>
        <p:spPr>
          <a:xfrm>
            <a:off x="4153087" y="2378924"/>
            <a:ext cx="12437608" cy="3789816"/>
          </a:xfrm>
          <a:prstGeom prst="rect">
            <a:avLst/>
          </a:prstGeom>
        </p:spPr>
        <p:txBody>
          <a:bodyPr lIns="0" tIns="0" rIns="0" bIns="0" rtlCol="0" anchor="t">
            <a:spAutoFit/>
          </a:bodyPr>
          <a:lstStyle/>
          <a:p>
            <a:pPr algn="l">
              <a:lnSpc>
                <a:spcPts val="4264"/>
              </a:lnSpc>
            </a:pPr>
            <a:r>
              <a:rPr lang="en-US" sz="3045" dirty="0">
                <a:solidFill>
                  <a:srgbClr val="202124"/>
                </a:solidFill>
                <a:latin typeface="Public Sans"/>
                <a:ea typeface="Public Sans"/>
                <a:cs typeface="Public Sans"/>
                <a:sym typeface="Public Sans"/>
              </a:rPr>
              <a:t>The </a:t>
            </a:r>
            <a:r>
              <a:rPr lang="en-US" sz="3045" dirty="0" err="1">
                <a:solidFill>
                  <a:srgbClr val="202124"/>
                </a:solidFill>
                <a:latin typeface="Public Sans"/>
                <a:ea typeface="Public Sans"/>
                <a:cs typeface="Public Sans"/>
                <a:sym typeface="Public Sans"/>
              </a:rPr>
              <a:t>MoveWithMe</a:t>
            </a:r>
            <a:r>
              <a:rPr lang="en-US" sz="3045" dirty="0">
                <a:solidFill>
                  <a:srgbClr val="202124"/>
                </a:solidFill>
                <a:latin typeface="Public Sans"/>
                <a:ea typeface="Public Sans"/>
                <a:cs typeface="Public Sans"/>
                <a:sym typeface="Public Sans"/>
              </a:rPr>
              <a:t> Product Backlog is organized into six core Epics.</a:t>
            </a:r>
          </a:p>
          <a:p>
            <a:pPr algn="l">
              <a:lnSpc>
                <a:spcPts val="4264"/>
              </a:lnSpc>
            </a:pPr>
            <a:r>
              <a:rPr lang="en-US" sz="3045" dirty="0">
                <a:solidFill>
                  <a:srgbClr val="202124"/>
                </a:solidFill>
                <a:latin typeface="Public Sans"/>
                <a:ea typeface="Public Sans"/>
                <a:cs typeface="Public Sans"/>
                <a:sym typeface="Public Sans"/>
              </a:rPr>
              <a:t>Epics are large bodies of work that represent major functional areas or strategic initiatives within the project. This was done using the Jira tool.</a:t>
            </a:r>
          </a:p>
          <a:p>
            <a:pPr algn="l">
              <a:lnSpc>
                <a:spcPts val="4264"/>
              </a:lnSpc>
            </a:pPr>
            <a:endParaRPr lang="en-US" sz="3045" dirty="0">
              <a:solidFill>
                <a:srgbClr val="202124"/>
              </a:solidFill>
              <a:latin typeface="Public Sans"/>
              <a:ea typeface="Public Sans"/>
              <a:cs typeface="Public Sans"/>
              <a:sym typeface="Public Sans"/>
            </a:endParaRPr>
          </a:p>
          <a:p>
            <a:pPr algn="l">
              <a:lnSpc>
                <a:spcPts val="4264"/>
              </a:lnSpc>
            </a:pPr>
            <a:endParaRPr lang="en-US" sz="3045" dirty="0">
              <a:solidFill>
                <a:srgbClr val="202124"/>
              </a:solidFill>
              <a:latin typeface="Public Sans"/>
              <a:ea typeface="Public Sans"/>
              <a:cs typeface="Public Sans"/>
              <a:sym typeface="Public Sans"/>
            </a:endParaRPr>
          </a:p>
          <a:p>
            <a:pPr algn="l">
              <a:lnSpc>
                <a:spcPts val="4264"/>
              </a:lnSpc>
              <a:spcBef>
                <a:spcPct val="0"/>
              </a:spcBef>
            </a:pPr>
            <a:endParaRPr lang="en-US" sz="3045" dirty="0">
              <a:solidFill>
                <a:srgbClr val="202124"/>
              </a:solidFill>
              <a:latin typeface="Public Sans"/>
              <a:ea typeface="Public Sans"/>
              <a:cs typeface="Public Sans"/>
              <a:sym typeface="Public Sans"/>
            </a:endParaRPr>
          </a:p>
        </p:txBody>
      </p:sp>
      <p:sp>
        <p:nvSpPr>
          <p:cNvPr id="32" name="Freeform 32"/>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DE"/>
          </a:p>
        </p:txBody>
      </p:sp>
      <p:sp>
        <p:nvSpPr>
          <p:cNvPr id="33" name="Freeform 33"/>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DE"/>
          </a:p>
        </p:txBody>
      </p:sp>
      <p:sp>
        <p:nvSpPr>
          <p:cNvPr id="34" name="Freeform 34"/>
          <p:cNvSpPr/>
          <p:nvPr/>
        </p:nvSpPr>
        <p:spPr>
          <a:xfrm rot="-2459989">
            <a:off x="16678542"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DE"/>
          </a:p>
        </p:txBody>
      </p:sp>
      <p:sp>
        <p:nvSpPr>
          <p:cNvPr id="35" name="Freeform 35"/>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6" name="Freeform 36"/>
          <p:cNvSpPr/>
          <p:nvPr/>
        </p:nvSpPr>
        <p:spPr>
          <a:xfrm>
            <a:off x="4118301" y="4704193"/>
            <a:ext cx="13255299" cy="3334907"/>
          </a:xfrm>
          <a:custGeom>
            <a:avLst/>
            <a:gdLst/>
            <a:ahLst/>
            <a:cxnLst/>
            <a:rect l="l" t="t" r="r" b="b"/>
            <a:pathLst>
              <a:path w="13255299" h="3334907">
                <a:moveTo>
                  <a:pt x="0" y="0"/>
                </a:moveTo>
                <a:lnTo>
                  <a:pt x="13255299" y="0"/>
                </a:lnTo>
                <a:lnTo>
                  <a:pt x="13255299" y="3334907"/>
                </a:lnTo>
                <a:lnTo>
                  <a:pt x="0" y="3334907"/>
                </a:lnTo>
                <a:lnTo>
                  <a:pt x="0" y="0"/>
                </a:lnTo>
                <a:close/>
              </a:path>
            </a:pathLst>
          </a:custGeom>
          <a:blipFill>
            <a:blip r:embed="rId16"/>
            <a:stretch>
              <a:fillRect/>
            </a:stretch>
          </a:blipFill>
        </p:spPr>
        <p:txBody>
          <a:bodyPr/>
          <a:lstStyle/>
          <a:p>
            <a:endParaRPr lang="en-DE"/>
          </a:p>
        </p:txBody>
      </p:sp>
      <p:sp>
        <p:nvSpPr>
          <p:cNvPr id="37" name="TextBox 37"/>
          <p:cNvSpPr txBox="1"/>
          <p:nvPr/>
        </p:nvSpPr>
        <p:spPr>
          <a:xfrm>
            <a:off x="4133759" y="1181536"/>
            <a:ext cx="5987780" cy="1182342"/>
          </a:xfrm>
          <a:prstGeom prst="rect">
            <a:avLst/>
          </a:prstGeom>
        </p:spPr>
        <p:txBody>
          <a:bodyPr lIns="0" tIns="0" rIns="0" bIns="0" rtlCol="0" anchor="t">
            <a:spAutoFit/>
          </a:bodyPr>
          <a:lstStyle/>
          <a:p>
            <a:pPr marL="0" lvl="0" indent="0" algn="l">
              <a:lnSpc>
                <a:spcPts val="7516"/>
              </a:lnSpc>
              <a:spcBef>
                <a:spcPct val="0"/>
              </a:spcBef>
            </a:pPr>
            <a:r>
              <a:rPr lang="en-US" sz="10021">
                <a:solidFill>
                  <a:srgbClr val="F9C324"/>
                </a:solidFill>
                <a:latin typeface="Cubao"/>
                <a:ea typeface="Cubao"/>
                <a:cs typeface="Cubao"/>
                <a:sym typeface="Cubao"/>
              </a:rPr>
              <a:t>EPIC</a:t>
            </a:r>
          </a:p>
        </p:txBody>
      </p:sp>
      <p:sp>
        <p:nvSpPr>
          <p:cNvPr id="38" name="Freeform 38"/>
          <p:cNvSpPr/>
          <p:nvPr/>
        </p:nvSpPr>
        <p:spPr>
          <a:xfrm>
            <a:off x="11803268" y="8099255"/>
            <a:ext cx="5131370" cy="1931261"/>
          </a:xfrm>
          <a:custGeom>
            <a:avLst/>
            <a:gdLst/>
            <a:ahLst/>
            <a:cxnLst/>
            <a:rect l="l" t="t" r="r" b="b"/>
            <a:pathLst>
              <a:path w="5131370" h="1931261">
                <a:moveTo>
                  <a:pt x="0" y="0"/>
                </a:moveTo>
                <a:lnTo>
                  <a:pt x="5131370" y="0"/>
                </a:lnTo>
                <a:lnTo>
                  <a:pt x="5131370" y="1931261"/>
                </a:lnTo>
                <a:lnTo>
                  <a:pt x="0" y="193126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D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06333" y="4342989"/>
            <a:ext cx="19500667" cy="5354087"/>
          </a:xfrm>
          <a:custGeom>
            <a:avLst/>
            <a:gdLst/>
            <a:ahLst/>
            <a:cxnLst/>
            <a:rect l="l" t="t" r="r" b="b"/>
            <a:pathLst>
              <a:path w="19500667" h="5354087">
                <a:moveTo>
                  <a:pt x="0" y="0"/>
                </a:moveTo>
                <a:lnTo>
                  <a:pt x="19500666" y="0"/>
                </a:lnTo>
                <a:lnTo>
                  <a:pt x="19500666" y="5354088"/>
                </a:lnTo>
                <a:lnTo>
                  <a:pt x="0" y="5354088"/>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txBody>
          <a:bodyPr/>
          <a:lstStyle/>
          <a:p>
            <a:endParaRPr lang="en-DE"/>
          </a:p>
        </p:txBody>
      </p:sp>
      <p:sp>
        <p:nvSpPr>
          <p:cNvPr id="3" name="Freeform 3"/>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DE"/>
          </a:p>
        </p:txBody>
      </p:sp>
      <p:grpSp>
        <p:nvGrpSpPr>
          <p:cNvPr id="4" name="Group 4"/>
          <p:cNvGrpSpPr/>
          <p:nvPr/>
        </p:nvGrpSpPr>
        <p:grpSpPr>
          <a:xfrm>
            <a:off x="1028700" y="1267341"/>
            <a:ext cx="16230600" cy="7562748"/>
            <a:chOff x="0" y="0"/>
            <a:chExt cx="4274726" cy="1991835"/>
          </a:xfrm>
        </p:grpSpPr>
        <p:sp>
          <p:nvSpPr>
            <p:cNvPr id="5" name="Freeform 5"/>
            <p:cNvSpPr/>
            <p:nvPr/>
          </p:nvSpPr>
          <p:spPr>
            <a:xfrm>
              <a:off x="0" y="0"/>
              <a:ext cx="4274726" cy="1991835"/>
            </a:xfrm>
            <a:custGeom>
              <a:avLst/>
              <a:gdLst/>
              <a:ahLst/>
              <a:cxnLst/>
              <a:rect l="l" t="t" r="r" b="b"/>
              <a:pathLst>
                <a:path w="4274726" h="1991835">
                  <a:moveTo>
                    <a:pt x="12879" y="0"/>
                  </a:moveTo>
                  <a:lnTo>
                    <a:pt x="4261847" y="0"/>
                  </a:lnTo>
                  <a:cubicBezTo>
                    <a:pt x="4268960" y="0"/>
                    <a:pt x="4274726" y="5766"/>
                    <a:pt x="4274726" y="12879"/>
                  </a:cubicBezTo>
                  <a:lnTo>
                    <a:pt x="4274726" y="1978956"/>
                  </a:lnTo>
                  <a:cubicBezTo>
                    <a:pt x="4274726" y="1986069"/>
                    <a:pt x="4268960" y="1991835"/>
                    <a:pt x="4261847" y="1991835"/>
                  </a:cubicBezTo>
                  <a:lnTo>
                    <a:pt x="12879" y="1991835"/>
                  </a:lnTo>
                  <a:cubicBezTo>
                    <a:pt x="5766" y="1991835"/>
                    <a:pt x="0" y="1986069"/>
                    <a:pt x="0" y="1978956"/>
                  </a:cubicBezTo>
                  <a:lnTo>
                    <a:pt x="0" y="12879"/>
                  </a:lnTo>
                  <a:cubicBezTo>
                    <a:pt x="0" y="5766"/>
                    <a:pt x="5766" y="0"/>
                    <a:pt x="12879" y="0"/>
                  </a:cubicBezTo>
                  <a:close/>
                </a:path>
              </a:pathLst>
            </a:custGeom>
            <a:solidFill>
              <a:srgbClr val="FFFFFF"/>
            </a:solidFill>
          </p:spPr>
          <p:txBody>
            <a:bodyPr/>
            <a:lstStyle/>
            <a:p>
              <a:endParaRPr lang="en-DE"/>
            </a:p>
          </p:txBody>
        </p:sp>
        <p:sp>
          <p:nvSpPr>
            <p:cNvPr id="6" name="TextBox 6"/>
            <p:cNvSpPr txBox="1"/>
            <p:nvPr/>
          </p:nvSpPr>
          <p:spPr>
            <a:xfrm>
              <a:off x="0" y="-38100"/>
              <a:ext cx="4274726" cy="2029935"/>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DE"/>
          </a:p>
        </p:txBody>
      </p:sp>
      <p:grpSp>
        <p:nvGrpSpPr>
          <p:cNvPr id="8" name="Group 8"/>
          <p:cNvGrpSpPr/>
          <p:nvPr/>
        </p:nvGrpSpPr>
        <p:grpSpPr>
          <a:xfrm>
            <a:off x="-1562147" y="9258300"/>
            <a:ext cx="21205933" cy="8243149"/>
            <a:chOff x="0" y="0"/>
            <a:chExt cx="5585102" cy="2171035"/>
          </a:xfrm>
        </p:grpSpPr>
        <p:sp>
          <p:nvSpPr>
            <p:cNvPr id="9" name="Freeform 9"/>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txBody>
            <a:bodyPr/>
            <a:lstStyle/>
            <a:p>
              <a:endParaRPr lang="en-DE"/>
            </a:p>
          </p:txBody>
        </p:sp>
        <p:sp>
          <p:nvSpPr>
            <p:cNvPr id="10" name="TextBox 10"/>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1" name="Group 11"/>
          <p:cNvGrpSpPr/>
          <p:nvPr/>
        </p:nvGrpSpPr>
        <p:grpSpPr>
          <a:xfrm>
            <a:off x="553409" y="9739067"/>
            <a:ext cx="17181183" cy="110498"/>
            <a:chOff x="0" y="0"/>
            <a:chExt cx="22908243" cy="147331"/>
          </a:xfrm>
        </p:grpSpPr>
        <p:grpSp>
          <p:nvGrpSpPr>
            <p:cNvPr id="12" name="Group 12"/>
            <p:cNvGrpSpPr/>
            <p:nvPr/>
          </p:nvGrpSpPr>
          <p:grpSpPr>
            <a:xfrm>
              <a:off x="0"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96871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793723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0594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5847313"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9816024"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0" name="Freeform 30"/>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1" name="TextBox 31"/>
          <p:cNvSpPr txBox="1"/>
          <p:nvPr/>
        </p:nvSpPr>
        <p:spPr>
          <a:xfrm>
            <a:off x="4286929" y="1710521"/>
            <a:ext cx="12587678" cy="4382727"/>
          </a:xfrm>
          <a:prstGeom prst="rect">
            <a:avLst/>
          </a:prstGeom>
        </p:spPr>
        <p:txBody>
          <a:bodyPr lIns="0" tIns="0" rIns="0" bIns="0" rtlCol="0" anchor="t">
            <a:spAutoFit/>
          </a:bodyPr>
          <a:lstStyle/>
          <a:p>
            <a:pPr algn="l">
              <a:lnSpc>
                <a:spcPts val="4315"/>
              </a:lnSpc>
            </a:pPr>
            <a:endParaRPr/>
          </a:p>
          <a:p>
            <a:pPr algn="l">
              <a:lnSpc>
                <a:spcPts val="4315"/>
              </a:lnSpc>
            </a:pPr>
            <a:r>
              <a:rPr lang="en-US" sz="3082">
                <a:solidFill>
                  <a:srgbClr val="202124"/>
                </a:solidFill>
                <a:latin typeface="Public Sans"/>
                <a:ea typeface="Public Sans"/>
                <a:cs typeface="Public Sans"/>
                <a:sym typeface="Public Sans"/>
              </a:rPr>
              <a:t>Simple descriptions of a feature written from the user’s perspective, explaining what they need and why</a:t>
            </a:r>
          </a:p>
          <a:p>
            <a:pPr algn="l">
              <a:lnSpc>
                <a:spcPts val="4315"/>
              </a:lnSpc>
            </a:pPr>
            <a:endParaRPr lang="en-US" sz="3082">
              <a:solidFill>
                <a:srgbClr val="202124"/>
              </a:solidFill>
              <a:latin typeface="Public Sans"/>
              <a:ea typeface="Public Sans"/>
              <a:cs typeface="Public Sans"/>
              <a:sym typeface="Public Sans"/>
            </a:endParaRPr>
          </a:p>
          <a:p>
            <a:pPr algn="l">
              <a:lnSpc>
                <a:spcPts val="4315"/>
              </a:lnSpc>
            </a:pPr>
            <a:endParaRPr lang="en-US" sz="3082">
              <a:solidFill>
                <a:srgbClr val="202124"/>
              </a:solidFill>
              <a:latin typeface="Public Sans"/>
              <a:ea typeface="Public Sans"/>
              <a:cs typeface="Public Sans"/>
              <a:sym typeface="Public Sans"/>
            </a:endParaRPr>
          </a:p>
          <a:p>
            <a:pPr algn="l">
              <a:lnSpc>
                <a:spcPts val="4315"/>
              </a:lnSpc>
            </a:pPr>
            <a:endParaRPr lang="en-US" sz="3082">
              <a:solidFill>
                <a:srgbClr val="202124"/>
              </a:solidFill>
              <a:latin typeface="Public Sans"/>
              <a:ea typeface="Public Sans"/>
              <a:cs typeface="Public Sans"/>
              <a:sym typeface="Public Sans"/>
            </a:endParaRPr>
          </a:p>
          <a:p>
            <a:pPr algn="l">
              <a:lnSpc>
                <a:spcPts val="4315"/>
              </a:lnSpc>
            </a:pPr>
            <a:r>
              <a:rPr lang="en-US" sz="3082">
                <a:solidFill>
                  <a:srgbClr val="202124"/>
                </a:solidFill>
                <a:latin typeface="Public Sans"/>
                <a:ea typeface="Public Sans"/>
                <a:cs typeface="Public Sans"/>
                <a:sym typeface="Public Sans"/>
              </a:rPr>
              <a:t>  </a:t>
            </a:r>
          </a:p>
          <a:p>
            <a:pPr algn="l">
              <a:lnSpc>
                <a:spcPts val="4315"/>
              </a:lnSpc>
              <a:spcBef>
                <a:spcPct val="0"/>
              </a:spcBef>
            </a:pPr>
            <a:endParaRPr lang="en-US" sz="3082">
              <a:solidFill>
                <a:srgbClr val="202124"/>
              </a:solidFill>
              <a:latin typeface="Public Sans"/>
              <a:ea typeface="Public Sans"/>
              <a:cs typeface="Public Sans"/>
              <a:sym typeface="Public Sans"/>
            </a:endParaRPr>
          </a:p>
        </p:txBody>
      </p:sp>
      <p:sp>
        <p:nvSpPr>
          <p:cNvPr id="32" name="Freeform 32"/>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DE"/>
          </a:p>
        </p:txBody>
      </p:sp>
      <p:sp>
        <p:nvSpPr>
          <p:cNvPr id="33" name="Freeform 33"/>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DE"/>
          </a:p>
        </p:txBody>
      </p:sp>
      <p:sp>
        <p:nvSpPr>
          <p:cNvPr id="34" name="Freeform 34"/>
          <p:cNvSpPr/>
          <p:nvPr/>
        </p:nvSpPr>
        <p:spPr>
          <a:xfrm rot="-2459989">
            <a:off x="16678542"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DE"/>
          </a:p>
        </p:txBody>
      </p:sp>
      <p:sp>
        <p:nvSpPr>
          <p:cNvPr id="35" name="Freeform 35"/>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6" name="Freeform 36"/>
          <p:cNvSpPr/>
          <p:nvPr/>
        </p:nvSpPr>
        <p:spPr>
          <a:xfrm>
            <a:off x="4286929" y="3614582"/>
            <a:ext cx="12596587" cy="4333730"/>
          </a:xfrm>
          <a:custGeom>
            <a:avLst/>
            <a:gdLst/>
            <a:ahLst/>
            <a:cxnLst/>
            <a:rect l="l" t="t" r="r" b="b"/>
            <a:pathLst>
              <a:path w="12596587" h="4333730">
                <a:moveTo>
                  <a:pt x="0" y="0"/>
                </a:moveTo>
                <a:lnTo>
                  <a:pt x="12596587" y="0"/>
                </a:lnTo>
                <a:lnTo>
                  <a:pt x="12596587" y="4333730"/>
                </a:lnTo>
                <a:lnTo>
                  <a:pt x="0" y="4333730"/>
                </a:lnTo>
                <a:lnTo>
                  <a:pt x="0" y="0"/>
                </a:lnTo>
                <a:close/>
              </a:path>
            </a:pathLst>
          </a:custGeom>
          <a:blipFill>
            <a:blip r:embed="rId16"/>
            <a:stretch>
              <a:fillRect t="-25855" b="-25855"/>
            </a:stretch>
          </a:blipFill>
        </p:spPr>
        <p:txBody>
          <a:bodyPr/>
          <a:lstStyle/>
          <a:p>
            <a:endParaRPr lang="en-DE"/>
          </a:p>
        </p:txBody>
      </p:sp>
      <p:sp>
        <p:nvSpPr>
          <p:cNvPr id="37" name="TextBox 37"/>
          <p:cNvSpPr txBox="1"/>
          <p:nvPr/>
        </p:nvSpPr>
        <p:spPr>
          <a:xfrm>
            <a:off x="4133759" y="847620"/>
            <a:ext cx="11369405" cy="1182342"/>
          </a:xfrm>
          <a:prstGeom prst="rect">
            <a:avLst/>
          </a:prstGeom>
        </p:spPr>
        <p:txBody>
          <a:bodyPr lIns="0" tIns="0" rIns="0" bIns="0" rtlCol="0" anchor="t">
            <a:spAutoFit/>
          </a:bodyPr>
          <a:lstStyle/>
          <a:p>
            <a:pPr marL="0" lvl="0" indent="0" algn="l">
              <a:lnSpc>
                <a:spcPts val="7516"/>
              </a:lnSpc>
              <a:spcBef>
                <a:spcPct val="0"/>
              </a:spcBef>
            </a:pPr>
            <a:r>
              <a:rPr lang="en-US" sz="10021">
                <a:solidFill>
                  <a:srgbClr val="F9C324"/>
                </a:solidFill>
                <a:latin typeface="Cubao"/>
                <a:ea typeface="Cubao"/>
                <a:cs typeface="Cubao"/>
                <a:sym typeface="Cubao"/>
              </a:rPr>
              <a:t>BACKLOG STORIES</a:t>
            </a:r>
          </a:p>
        </p:txBody>
      </p:sp>
      <p:sp>
        <p:nvSpPr>
          <p:cNvPr id="38" name="Freeform 38"/>
          <p:cNvSpPr/>
          <p:nvPr/>
        </p:nvSpPr>
        <p:spPr>
          <a:xfrm>
            <a:off x="11224093" y="8099255"/>
            <a:ext cx="5131370" cy="1931261"/>
          </a:xfrm>
          <a:custGeom>
            <a:avLst/>
            <a:gdLst/>
            <a:ahLst/>
            <a:cxnLst/>
            <a:rect l="l" t="t" r="r" b="b"/>
            <a:pathLst>
              <a:path w="5131370" h="1931261">
                <a:moveTo>
                  <a:pt x="0" y="0"/>
                </a:moveTo>
                <a:lnTo>
                  <a:pt x="5131370" y="0"/>
                </a:lnTo>
                <a:lnTo>
                  <a:pt x="5131370" y="1931261"/>
                </a:lnTo>
                <a:lnTo>
                  <a:pt x="0" y="193126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D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06333" y="4342989"/>
            <a:ext cx="19500667" cy="5354087"/>
          </a:xfrm>
          <a:custGeom>
            <a:avLst/>
            <a:gdLst/>
            <a:ahLst/>
            <a:cxnLst/>
            <a:rect l="l" t="t" r="r" b="b"/>
            <a:pathLst>
              <a:path w="19500667" h="5354087">
                <a:moveTo>
                  <a:pt x="0" y="0"/>
                </a:moveTo>
                <a:lnTo>
                  <a:pt x="19500666" y="0"/>
                </a:lnTo>
                <a:lnTo>
                  <a:pt x="19500666" y="5354088"/>
                </a:lnTo>
                <a:lnTo>
                  <a:pt x="0" y="5354088"/>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txBody>
          <a:bodyPr/>
          <a:lstStyle/>
          <a:p>
            <a:endParaRPr lang="en-DE"/>
          </a:p>
        </p:txBody>
      </p:sp>
      <p:sp>
        <p:nvSpPr>
          <p:cNvPr id="3" name="Freeform 3"/>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DE"/>
          </a:p>
        </p:txBody>
      </p:sp>
      <p:grpSp>
        <p:nvGrpSpPr>
          <p:cNvPr id="4" name="Group 4"/>
          <p:cNvGrpSpPr/>
          <p:nvPr/>
        </p:nvGrpSpPr>
        <p:grpSpPr>
          <a:xfrm>
            <a:off x="1028700" y="1624115"/>
            <a:ext cx="16230600" cy="7634185"/>
            <a:chOff x="0" y="0"/>
            <a:chExt cx="4274726" cy="2010650"/>
          </a:xfrm>
        </p:grpSpPr>
        <p:sp>
          <p:nvSpPr>
            <p:cNvPr id="5" name="Freeform 5"/>
            <p:cNvSpPr/>
            <p:nvPr/>
          </p:nvSpPr>
          <p:spPr>
            <a:xfrm>
              <a:off x="0" y="0"/>
              <a:ext cx="4274726" cy="2010650"/>
            </a:xfrm>
            <a:custGeom>
              <a:avLst/>
              <a:gdLst/>
              <a:ahLst/>
              <a:cxnLst/>
              <a:rect l="l" t="t" r="r" b="b"/>
              <a:pathLst>
                <a:path w="4274726" h="2010650">
                  <a:moveTo>
                    <a:pt x="12879" y="0"/>
                  </a:moveTo>
                  <a:lnTo>
                    <a:pt x="4261847" y="0"/>
                  </a:lnTo>
                  <a:cubicBezTo>
                    <a:pt x="4268960" y="0"/>
                    <a:pt x="4274726" y="5766"/>
                    <a:pt x="4274726" y="12879"/>
                  </a:cubicBezTo>
                  <a:lnTo>
                    <a:pt x="4274726" y="1997771"/>
                  </a:lnTo>
                  <a:cubicBezTo>
                    <a:pt x="4274726" y="2001186"/>
                    <a:pt x="4273369" y="2004462"/>
                    <a:pt x="4270954" y="2006878"/>
                  </a:cubicBezTo>
                  <a:cubicBezTo>
                    <a:pt x="4268539" y="2009293"/>
                    <a:pt x="4265263" y="2010650"/>
                    <a:pt x="4261847" y="2010650"/>
                  </a:cubicBezTo>
                  <a:lnTo>
                    <a:pt x="12879" y="2010650"/>
                  </a:lnTo>
                  <a:cubicBezTo>
                    <a:pt x="5766" y="2010650"/>
                    <a:pt x="0" y="2004883"/>
                    <a:pt x="0" y="1997771"/>
                  </a:cubicBezTo>
                  <a:lnTo>
                    <a:pt x="0" y="12879"/>
                  </a:lnTo>
                  <a:cubicBezTo>
                    <a:pt x="0" y="5766"/>
                    <a:pt x="5766" y="0"/>
                    <a:pt x="12879" y="0"/>
                  </a:cubicBezTo>
                  <a:close/>
                </a:path>
              </a:pathLst>
            </a:custGeom>
            <a:solidFill>
              <a:srgbClr val="FFFFFF"/>
            </a:solidFill>
          </p:spPr>
          <p:txBody>
            <a:bodyPr/>
            <a:lstStyle/>
            <a:p>
              <a:endParaRPr lang="en-DE"/>
            </a:p>
          </p:txBody>
        </p:sp>
        <p:sp>
          <p:nvSpPr>
            <p:cNvPr id="6" name="TextBox 6"/>
            <p:cNvSpPr txBox="1"/>
            <p:nvPr/>
          </p:nvSpPr>
          <p:spPr>
            <a:xfrm>
              <a:off x="0" y="-38100"/>
              <a:ext cx="4274726" cy="204875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DE"/>
          </a:p>
        </p:txBody>
      </p:sp>
      <p:grpSp>
        <p:nvGrpSpPr>
          <p:cNvPr id="8" name="Group 8"/>
          <p:cNvGrpSpPr/>
          <p:nvPr/>
        </p:nvGrpSpPr>
        <p:grpSpPr>
          <a:xfrm>
            <a:off x="-1562147" y="9258300"/>
            <a:ext cx="21205933" cy="8243149"/>
            <a:chOff x="0" y="0"/>
            <a:chExt cx="5585102" cy="2171035"/>
          </a:xfrm>
        </p:grpSpPr>
        <p:sp>
          <p:nvSpPr>
            <p:cNvPr id="9" name="Freeform 9"/>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txBody>
            <a:bodyPr/>
            <a:lstStyle/>
            <a:p>
              <a:endParaRPr lang="en-DE"/>
            </a:p>
          </p:txBody>
        </p:sp>
        <p:sp>
          <p:nvSpPr>
            <p:cNvPr id="10" name="TextBox 10"/>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1" name="Group 11"/>
          <p:cNvGrpSpPr/>
          <p:nvPr/>
        </p:nvGrpSpPr>
        <p:grpSpPr>
          <a:xfrm>
            <a:off x="553409" y="9739067"/>
            <a:ext cx="17181183" cy="110498"/>
            <a:chOff x="0" y="0"/>
            <a:chExt cx="22908243" cy="147331"/>
          </a:xfrm>
        </p:grpSpPr>
        <p:grpSp>
          <p:nvGrpSpPr>
            <p:cNvPr id="12" name="Group 12"/>
            <p:cNvGrpSpPr/>
            <p:nvPr/>
          </p:nvGrpSpPr>
          <p:grpSpPr>
            <a:xfrm>
              <a:off x="0"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96871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793723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0594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5847313"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9816024"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0" name="Freeform 30"/>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1" name="TextBox 31"/>
          <p:cNvSpPr txBox="1"/>
          <p:nvPr/>
        </p:nvSpPr>
        <p:spPr>
          <a:xfrm>
            <a:off x="4133759" y="2015058"/>
            <a:ext cx="12250001" cy="5867400"/>
          </a:xfrm>
          <a:prstGeom prst="rect">
            <a:avLst/>
          </a:prstGeom>
        </p:spPr>
        <p:txBody>
          <a:bodyPr lIns="0" tIns="0" rIns="0" bIns="0" rtlCol="0" anchor="t">
            <a:spAutoFit/>
          </a:bodyPr>
          <a:lstStyle/>
          <a:p>
            <a:pPr algn="l">
              <a:lnSpc>
                <a:spcPts val="4200"/>
              </a:lnSpc>
            </a:pPr>
            <a:endParaRPr dirty="0"/>
          </a:p>
          <a:p>
            <a:pPr algn="l">
              <a:lnSpc>
                <a:spcPts val="4200"/>
              </a:lnSpc>
            </a:pPr>
            <a:r>
              <a:rPr lang="en-US" sz="3000" dirty="0">
                <a:solidFill>
                  <a:srgbClr val="202124"/>
                </a:solidFill>
                <a:latin typeface="Public Sans"/>
                <a:ea typeface="Public Sans"/>
                <a:cs typeface="Public Sans"/>
                <a:sym typeface="Public Sans"/>
              </a:rPr>
              <a:t>•The </a:t>
            </a:r>
            <a:r>
              <a:rPr lang="en-US" sz="3000" b="1" dirty="0">
                <a:solidFill>
                  <a:srgbClr val="202124"/>
                </a:solidFill>
                <a:latin typeface="Public Sans Bold"/>
                <a:ea typeface="Public Sans Bold"/>
                <a:cs typeface="Public Sans Bold"/>
                <a:sym typeface="Public Sans Bold"/>
              </a:rPr>
              <a:t>Product Owner (PO)</a:t>
            </a:r>
            <a:r>
              <a:rPr lang="en-US" sz="3000" dirty="0">
                <a:solidFill>
                  <a:srgbClr val="202124"/>
                </a:solidFill>
                <a:latin typeface="Public Sans"/>
                <a:ea typeface="Public Sans"/>
                <a:cs typeface="Public Sans"/>
                <a:sym typeface="Public Sans"/>
              </a:rPr>
              <a:t> serves as the vision expert, responsible for prioritizing the work and defining what should be built to maximize value. In this project, Md Farhad Hossain fulfilled the role of Product Owner and was responsible for the final project summary, sprint planning, and GitHub setup.”                                      </a:t>
            </a:r>
          </a:p>
          <a:p>
            <a:pPr algn="l">
              <a:lnSpc>
                <a:spcPts val="4200"/>
              </a:lnSpc>
            </a:pPr>
            <a:endParaRPr lang="en-US" sz="3000" dirty="0">
              <a:solidFill>
                <a:srgbClr val="202124"/>
              </a:solidFill>
              <a:latin typeface="Public Sans"/>
              <a:ea typeface="Public Sans"/>
              <a:cs typeface="Public Sans"/>
              <a:sym typeface="Public Sans"/>
            </a:endParaRPr>
          </a:p>
          <a:p>
            <a:pPr algn="l">
              <a:lnSpc>
                <a:spcPts val="4200"/>
              </a:lnSpc>
            </a:pPr>
            <a:r>
              <a:rPr lang="en-US" sz="3000" dirty="0">
                <a:solidFill>
                  <a:srgbClr val="202124"/>
                </a:solidFill>
                <a:latin typeface="Public Sans"/>
                <a:ea typeface="Public Sans"/>
                <a:cs typeface="Public Sans"/>
                <a:sym typeface="Public Sans"/>
              </a:rPr>
              <a:t>•The </a:t>
            </a:r>
            <a:r>
              <a:rPr lang="en-US" sz="3000" b="1" dirty="0">
                <a:solidFill>
                  <a:srgbClr val="202124"/>
                </a:solidFill>
                <a:latin typeface="Public Sans Bold"/>
                <a:ea typeface="Public Sans Bold"/>
                <a:cs typeface="Public Sans Bold"/>
                <a:sym typeface="Public Sans Bold"/>
              </a:rPr>
              <a:t>Scrum Master (SM)</a:t>
            </a:r>
            <a:r>
              <a:rPr lang="en-US" sz="3000" dirty="0">
                <a:solidFill>
                  <a:srgbClr val="202124"/>
                </a:solidFill>
                <a:latin typeface="Public Sans"/>
                <a:ea typeface="Public Sans"/>
                <a:cs typeface="Public Sans"/>
                <a:sym typeface="Public Sans"/>
              </a:rPr>
              <a:t>, Neha Bobby, supports the team by coaching them, ensuring adherence to the Scrum framework, facilitate daily meetings.            </a:t>
            </a:r>
          </a:p>
          <a:p>
            <a:pPr algn="l">
              <a:lnSpc>
                <a:spcPts val="4200"/>
              </a:lnSpc>
              <a:spcBef>
                <a:spcPct val="0"/>
              </a:spcBef>
            </a:pPr>
            <a:endParaRPr lang="en-US" sz="3000" dirty="0">
              <a:solidFill>
                <a:srgbClr val="202124"/>
              </a:solidFill>
              <a:latin typeface="Public Sans"/>
              <a:ea typeface="Public Sans"/>
              <a:cs typeface="Public Sans"/>
              <a:sym typeface="Public Sans"/>
            </a:endParaRPr>
          </a:p>
        </p:txBody>
      </p:sp>
      <p:sp>
        <p:nvSpPr>
          <p:cNvPr id="32" name="Freeform 32"/>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DE"/>
          </a:p>
        </p:txBody>
      </p:sp>
      <p:sp>
        <p:nvSpPr>
          <p:cNvPr id="33" name="Freeform 33"/>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DE"/>
          </a:p>
        </p:txBody>
      </p:sp>
      <p:sp>
        <p:nvSpPr>
          <p:cNvPr id="34" name="TextBox 34"/>
          <p:cNvSpPr txBox="1"/>
          <p:nvPr/>
        </p:nvSpPr>
        <p:spPr>
          <a:xfrm>
            <a:off x="4133759" y="1181536"/>
            <a:ext cx="5987780" cy="1182342"/>
          </a:xfrm>
          <a:prstGeom prst="rect">
            <a:avLst/>
          </a:prstGeom>
        </p:spPr>
        <p:txBody>
          <a:bodyPr lIns="0" tIns="0" rIns="0" bIns="0" rtlCol="0" anchor="t">
            <a:spAutoFit/>
          </a:bodyPr>
          <a:lstStyle/>
          <a:p>
            <a:pPr marL="0" lvl="0" indent="0" algn="l">
              <a:lnSpc>
                <a:spcPts val="7516"/>
              </a:lnSpc>
              <a:spcBef>
                <a:spcPct val="0"/>
              </a:spcBef>
            </a:pPr>
            <a:r>
              <a:rPr lang="en-US" sz="10021">
                <a:solidFill>
                  <a:srgbClr val="F9C324"/>
                </a:solidFill>
                <a:latin typeface="Cubao"/>
                <a:ea typeface="Cubao"/>
                <a:cs typeface="Cubao"/>
                <a:sym typeface="Cubao"/>
              </a:rPr>
              <a:t>ROLE</a:t>
            </a:r>
          </a:p>
        </p:txBody>
      </p:sp>
      <p:sp>
        <p:nvSpPr>
          <p:cNvPr id="35" name="Freeform 35"/>
          <p:cNvSpPr/>
          <p:nvPr/>
        </p:nvSpPr>
        <p:spPr>
          <a:xfrm rot="-2459989">
            <a:off x="16678542"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DE"/>
          </a:p>
        </p:txBody>
      </p:sp>
      <p:sp>
        <p:nvSpPr>
          <p:cNvPr id="36" name="Freeform 36"/>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7" name="Freeform 37"/>
          <p:cNvSpPr/>
          <p:nvPr/>
        </p:nvSpPr>
        <p:spPr>
          <a:xfrm>
            <a:off x="10153984" y="8099255"/>
            <a:ext cx="5131370" cy="1931261"/>
          </a:xfrm>
          <a:custGeom>
            <a:avLst/>
            <a:gdLst/>
            <a:ahLst/>
            <a:cxnLst/>
            <a:rect l="l" t="t" r="r" b="b"/>
            <a:pathLst>
              <a:path w="5131370" h="1931261">
                <a:moveTo>
                  <a:pt x="0" y="0"/>
                </a:moveTo>
                <a:lnTo>
                  <a:pt x="5131370" y="0"/>
                </a:lnTo>
                <a:lnTo>
                  <a:pt x="5131370" y="1931261"/>
                </a:lnTo>
                <a:lnTo>
                  <a:pt x="0" y="193126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D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06333" y="4342989"/>
            <a:ext cx="19500667" cy="5354087"/>
          </a:xfrm>
          <a:custGeom>
            <a:avLst/>
            <a:gdLst/>
            <a:ahLst/>
            <a:cxnLst/>
            <a:rect l="l" t="t" r="r" b="b"/>
            <a:pathLst>
              <a:path w="19500667" h="5354087">
                <a:moveTo>
                  <a:pt x="0" y="0"/>
                </a:moveTo>
                <a:lnTo>
                  <a:pt x="19500666" y="0"/>
                </a:lnTo>
                <a:lnTo>
                  <a:pt x="19500666" y="5354088"/>
                </a:lnTo>
                <a:lnTo>
                  <a:pt x="0" y="5354088"/>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txBody>
          <a:bodyPr/>
          <a:lstStyle/>
          <a:p>
            <a:endParaRPr lang="en-DE"/>
          </a:p>
        </p:txBody>
      </p:sp>
      <p:sp>
        <p:nvSpPr>
          <p:cNvPr id="3" name="Freeform 3"/>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DE"/>
          </a:p>
        </p:txBody>
      </p:sp>
      <p:grpSp>
        <p:nvGrpSpPr>
          <p:cNvPr id="4" name="Group 4"/>
          <p:cNvGrpSpPr/>
          <p:nvPr/>
        </p:nvGrpSpPr>
        <p:grpSpPr>
          <a:xfrm>
            <a:off x="1028700" y="1624115"/>
            <a:ext cx="16230600" cy="7634185"/>
            <a:chOff x="0" y="0"/>
            <a:chExt cx="4274726" cy="2010650"/>
          </a:xfrm>
        </p:grpSpPr>
        <p:sp>
          <p:nvSpPr>
            <p:cNvPr id="5" name="Freeform 5"/>
            <p:cNvSpPr/>
            <p:nvPr/>
          </p:nvSpPr>
          <p:spPr>
            <a:xfrm>
              <a:off x="0" y="0"/>
              <a:ext cx="4274726" cy="2010650"/>
            </a:xfrm>
            <a:custGeom>
              <a:avLst/>
              <a:gdLst/>
              <a:ahLst/>
              <a:cxnLst/>
              <a:rect l="l" t="t" r="r" b="b"/>
              <a:pathLst>
                <a:path w="4274726" h="2010650">
                  <a:moveTo>
                    <a:pt x="12879" y="0"/>
                  </a:moveTo>
                  <a:lnTo>
                    <a:pt x="4261847" y="0"/>
                  </a:lnTo>
                  <a:cubicBezTo>
                    <a:pt x="4268960" y="0"/>
                    <a:pt x="4274726" y="5766"/>
                    <a:pt x="4274726" y="12879"/>
                  </a:cubicBezTo>
                  <a:lnTo>
                    <a:pt x="4274726" y="1997771"/>
                  </a:lnTo>
                  <a:cubicBezTo>
                    <a:pt x="4274726" y="2001186"/>
                    <a:pt x="4273369" y="2004462"/>
                    <a:pt x="4270954" y="2006878"/>
                  </a:cubicBezTo>
                  <a:cubicBezTo>
                    <a:pt x="4268539" y="2009293"/>
                    <a:pt x="4265263" y="2010650"/>
                    <a:pt x="4261847" y="2010650"/>
                  </a:cubicBezTo>
                  <a:lnTo>
                    <a:pt x="12879" y="2010650"/>
                  </a:lnTo>
                  <a:cubicBezTo>
                    <a:pt x="5766" y="2010650"/>
                    <a:pt x="0" y="2004883"/>
                    <a:pt x="0" y="1997771"/>
                  </a:cubicBezTo>
                  <a:lnTo>
                    <a:pt x="0" y="12879"/>
                  </a:lnTo>
                  <a:cubicBezTo>
                    <a:pt x="0" y="5766"/>
                    <a:pt x="5766" y="0"/>
                    <a:pt x="12879" y="0"/>
                  </a:cubicBezTo>
                  <a:close/>
                </a:path>
              </a:pathLst>
            </a:custGeom>
            <a:solidFill>
              <a:srgbClr val="FFFFFF"/>
            </a:solidFill>
          </p:spPr>
          <p:txBody>
            <a:bodyPr/>
            <a:lstStyle/>
            <a:p>
              <a:endParaRPr lang="en-DE"/>
            </a:p>
          </p:txBody>
        </p:sp>
        <p:sp>
          <p:nvSpPr>
            <p:cNvPr id="6" name="TextBox 6"/>
            <p:cNvSpPr txBox="1"/>
            <p:nvPr/>
          </p:nvSpPr>
          <p:spPr>
            <a:xfrm>
              <a:off x="0" y="-38100"/>
              <a:ext cx="4274726" cy="204875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DE"/>
          </a:p>
        </p:txBody>
      </p:sp>
      <p:grpSp>
        <p:nvGrpSpPr>
          <p:cNvPr id="8" name="Group 8"/>
          <p:cNvGrpSpPr/>
          <p:nvPr/>
        </p:nvGrpSpPr>
        <p:grpSpPr>
          <a:xfrm>
            <a:off x="-1562147" y="9258300"/>
            <a:ext cx="21205933" cy="8243149"/>
            <a:chOff x="0" y="0"/>
            <a:chExt cx="5585102" cy="2171035"/>
          </a:xfrm>
        </p:grpSpPr>
        <p:sp>
          <p:nvSpPr>
            <p:cNvPr id="9" name="Freeform 9"/>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txBody>
            <a:bodyPr/>
            <a:lstStyle/>
            <a:p>
              <a:endParaRPr lang="en-DE"/>
            </a:p>
          </p:txBody>
        </p:sp>
        <p:sp>
          <p:nvSpPr>
            <p:cNvPr id="10" name="TextBox 10"/>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1" name="Group 11"/>
          <p:cNvGrpSpPr/>
          <p:nvPr/>
        </p:nvGrpSpPr>
        <p:grpSpPr>
          <a:xfrm>
            <a:off x="553409" y="9739067"/>
            <a:ext cx="17181183" cy="110498"/>
            <a:chOff x="0" y="0"/>
            <a:chExt cx="22908243" cy="147331"/>
          </a:xfrm>
        </p:grpSpPr>
        <p:grpSp>
          <p:nvGrpSpPr>
            <p:cNvPr id="12" name="Group 12"/>
            <p:cNvGrpSpPr/>
            <p:nvPr/>
          </p:nvGrpSpPr>
          <p:grpSpPr>
            <a:xfrm>
              <a:off x="0"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96871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793723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0594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5847313"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9816024"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0" name="Freeform 30"/>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1" name="TextBox 31"/>
          <p:cNvSpPr txBox="1"/>
          <p:nvPr/>
        </p:nvSpPr>
        <p:spPr>
          <a:xfrm>
            <a:off x="4133759" y="2171700"/>
            <a:ext cx="12607188" cy="5867400"/>
          </a:xfrm>
          <a:prstGeom prst="rect">
            <a:avLst/>
          </a:prstGeom>
        </p:spPr>
        <p:txBody>
          <a:bodyPr lIns="0" tIns="0" rIns="0" bIns="0" rtlCol="0" anchor="t">
            <a:spAutoFit/>
          </a:bodyPr>
          <a:lstStyle/>
          <a:p>
            <a:pPr algn="l">
              <a:lnSpc>
                <a:spcPts val="4200"/>
              </a:lnSpc>
            </a:pPr>
            <a:r>
              <a:rPr lang="en-US" sz="3000" b="1" dirty="0">
                <a:solidFill>
                  <a:srgbClr val="202124"/>
                </a:solidFill>
                <a:latin typeface="Public Sans Bold"/>
                <a:ea typeface="Public Sans Bold"/>
                <a:cs typeface="Public Sans Bold"/>
                <a:sym typeface="Public Sans Bold"/>
              </a:rPr>
              <a:t>It is the event where the team selects work from the Product Backlog to create the Sprint Backlog.   </a:t>
            </a:r>
          </a:p>
          <a:p>
            <a:pPr algn="l">
              <a:lnSpc>
                <a:spcPts val="4200"/>
              </a:lnSpc>
            </a:pPr>
            <a:endParaRPr lang="en-US" sz="3000" b="1" dirty="0">
              <a:solidFill>
                <a:srgbClr val="202124"/>
              </a:solidFill>
              <a:latin typeface="Public Sans Bold"/>
              <a:ea typeface="Public Sans Bold"/>
              <a:cs typeface="Public Sans Bold"/>
              <a:sym typeface="Public Sans Bold"/>
            </a:endParaRPr>
          </a:p>
          <a:p>
            <a:pPr algn="l">
              <a:lnSpc>
                <a:spcPts val="4200"/>
              </a:lnSpc>
            </a:pPr>
            <a:r>
              <a:rPr lang="en-US" sz="3000" b="1" dirty="0">
                <a:solidFill>
                  <a:srgbClr val="202124"/>
                </a:solidFill>
                <a:latin typeface="Public Sans Bold"/>
                <a:ea typeface="Public Sans Bold"/>
                <a:cs typeface="Public Sans Bold"/>
                <a:sym typeface="Public Sans Bold"/>
              </a:rPr>
              <a:t>•</a:t>
            </a:r>
            <a:r>
              <a:rPr lang="en-US" sz="3000" dirty="0">
                <a:solidFill>
                  <a:srgbClr val="202124"/>
                </a:solidFill>
                <a:latin typeface="Public Sans"/>
                <a:ea typeface="Public Sans"/>
                <a:cs typeface="Public Sans"/>
                <a:sym typeface="Public Sans"/>
              </a:rPr>
              <a:t>We completed our sprint goal of project setup, team assignment, GitHub integration, and preparing the core features for development.</a:t>
            </a:r>
          </a:p>
          <a:p>
            <a:pPr algn="l">
              <a:lnSpc>
                <a:spcPts val="4200"/>
              </a:lnSpc>
            </a:pPr>
            <a:r>
              <a:rPr lang="en-US" sz="3000" dirty="0">
                <a:solidFill>
                  <a:srgbClr val="202124"/>
                </a:solidFill>
                <a:latin typeface="Public Sans"/>
                <a:ea typeface="Public Sans"/>
                <a:cs typeface="Public Sans"/>
                <a:sym typeface="Public Sans"/>
              </a:rPr>
              <a:t> </a:t>
            </a:r>
          </a:p>
          <a:p>
            <a:pPr algn="l">
              <a:lnSpc>
                <a:spcPts val="4200"/>
              </a:lnSpc>
            </a:pPr>
            <a:r>
              <a:rPr lang="en-US" sz="3000" dirty="0">
                <a:solidFill>
                  <a:srgbClr val="202124"/>
                </a:solidFill>
                <a:latin typeface="Public Sans"/>
                <a:ea typeface="Public Sans"/>
                <a:cs typeface="Public Sans"/>
                <a:sym typeface="Public Sans"/>
              </a:rPr>
              <a:t> </a:t>
            </a:r>
          </a:p>
          <a:p>
            <a:pPr algn="l">
              <a:lnSpc>
                <a:spcPts val="4200"/>
              </a:lnSpc>
            </a:pPr>
            <a:endParaRPr lang="en-US" sz="3000" dirty="0">
              <a:solidFill>
                <a:srgbClr val="202124"/>
              </a:solidFill>
              <a:latin typeface="Public Sans"/>
              <a:ea typeface="Public Sans"/>
              <a:cs typeface="Public Sans"/>
              <a:sym typeface="Public Sans"/>
            </a:endParaRPr>
          </a:p>
          <a:p>
            <a:pPr algn="l">
              <a:lnSpc>
                <a:spcPts val="4200"/>
              </a:lnSpc>
            </a:pPr>
            <a:endParaRPr lang="en-US" sz="3000" dirty="0">
              <a:solidFill>
                <a:srgbClr val="202124"/>
              </a:solidFill>
              <a:latin typeface="Public Sans"/>
              <a:ea typeface="Public Sans"/>
              <a:cs typeface="Public Sans"/>
              <a:sym typeface="Public Sans"/>
            </a:endParaRPr>
          </a:p>
          <a:p>
            <a:pPr algn="l">
              <a:lnSpc>
                <a:spcPts val="4200"/>
              </a:lnSpc>
            </a:pPr>
            <a:endParaRPr lang="en-US" sz="3000" dirty="0">
              <a:solidFill>
                <a:srgbClr val="202124"/>
              </a:solidFill>
              <a:latin typeface="Public Sans"/>
              <a:ea typeface="Public Sans"/>
              <a:cs typeface="Public Sans"/>
              <a:sym typeface="Public Sans"/>
            </a:endParaRPr>
          </a:p>
          <a:p>
            <a:pPr algn="l">
              <a:lnSpc>
                <a:spcPts val="4200"/>
              </a:lnSpc>
              <a:spcBef>
                <a:spcPct val="0"/>
              </a:spcBef>
            </a:pPr>
            <a:endParaRPr lang="en-US" sz="3000" dirty="0">
              <a:solidFill>
                <a:srgbClr val="202124"/>
              </a:solidFill>
              <a:latin typeface="Public Sans"/>
              <a:ea typeface="Public Sans"/>
              <a:cs typeface="Public Sans"/>
              <a:sym typeface="Public Sans"/>
            </a:endParaRPr>
          </a:p>
        </p:txBody>
      </p:sp>
      <p:sp>
        <p:nvSpPr>
          <p:cNvPr id="32" name="Freeform 32"/>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DE"/>
          </a:p>
        </p:txBody>
      </p:sp>
      <p:sp>
        <p:nvSpPr>
          <p:cNvPr id="33" name="Freeform 33"/>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DE"/>
          </a:p>
        </p:txBody>
      </p:sp>
      <p:sp>
        <p:nvSpPr>
          <p:cNvPr id="34" name="Freeform 34"/>
          <p:cNvSpPr/>
          <p:nvPr/>
        </p:nvSpPr>
        <p:spPr>
          <a:xfrm>
            <a:off x="5436801" y="5017750"/>
            <a:ext cx="11645956" cy="3812339"/>
          </a:xfrm>
          <a:custGeom>
            <a:avLst/>
            <a:gdLst/>
            <a:ahLst/>
            <a:cxnLst/>
            <a:rect l="l" t="t" r="r" b="b"/>
            <a:pathLst>
              <a:path w="11645956" h="3812339">
                <a:moveTo>
                  <a:pt x="0" y="0"/>
                </a:moveTo>
                <a:lnTo>
                  <a:pt x="11645956" y="0"/>
                </a:lnTo>
                <a:lnTo>
                  <a:pt x="11645956" y="3812339"/>
                </a:lnTo>
                <a:lnTo>
                  <a:pt x="0" y="3812339"/>
                </a:lnTo>
                <a:lnTo>
                  <a:pt x="0" y="0"/>
                </a:lnTo>
                <a:close/>
              </a:path>
            </a:pathLst>
          </a:custGeom>
          <a:blipFill>
            <a:blip r:embed="rId14"/>
            <a:stretch>
              <a:fillRect t="-8423" b="-8423"/>
            </a:stretch>
          </a:blipFill>
        </p:spPr>
        <p:txBody>
          <a:bodyPr/>
          <a:lstStyle/>
          <a:p>
            <a:endParaRPr lang="en-DE"/>
          </a:p>
        </p:txBody>
      </p:sp>
      <p:sp>
        <p:nvSpPr>
          <p:cNvPr id="35" name="Freeform 35"/>
          <p:cNvSpPr/>
          <p:nvPr/>
        </p:nvSpPr>
        <p:spPr>
          <a:xfrm rot="-2459989">
            <a:off x="16678542"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DE"/>
          </a:p>
        </p:txBody>
      </p:sp>
      <p:sp>
        <p:nvSpPr>
          <p:cNvPr id="36" name="Freeform 36"/>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7" name="TextBox 37"/>
          <p:cNvSpPr txBox="1"/>
          <p:nvPr/>
        </p:nvSpPr>
        <p:spPr>
          <a:xfrm>
            <a:off x="4133759" y="1181536"/>
            <a:ext cx="10702655" cy="1182342"/>
          </a:xfrm>
          <a:prstGeom prst="rect">
            <a:avLst/>
          </a:prstGeom>
        </p:spPr>
        <p:txBody>
          <a:bodyPr lIns="0" tIns="0" rIns="0" bIns="0" rtlCol="0" anchor="t">
            <a:spAutoFit/>
          </a:bodyPr>
          <a:lstStyle/>
          <a:p>
            <a:pPr marL="0" lvl="0" indent="0" algn="l">
              <a:lnSpc>
                <a:spcPts val="7516"/>
              </a:lnSpc>
              <a:spcBef>
                <a:spcPct val="0"/>
              </a:spcBef>
            </a:pPr>
            <a:r>
              <a:rPr lang="en-US" sz="10021">
                <a:solidFill>
                  <a:srgbClr val="F9C324"/>
                </a:solidFill>
                <a:latin typeface="Cubao"/>
                <a:ea typeface="Cubao"/>
                <a:cs typeface="Cubao"/>
                <a:sym typeface="Cubao"/>
              </a:rPr>
              <a:t>SP</a:t>
            </a:r>
            <a:r>
              <a:rPr lang="en-US" sz="10021" u="none" strike="noStrike">
                <a:solidFill>
                  <a:srgbClr val="F9C324"/>
                </a:solidFill>
                <a:latin typeface="Cubao"/>
                <a:ea typeface="Cubao"/>
                <a:cs typeface="Cubao"/>
                <a:sym typeface="Cubao"/>
              </a:rPr>
              <a:t>RINT PLANING</a:t>
            </a:r>
          </a:p>
        </p:txBody>
      </p:sp>
      <p:sp>
        <p:nvSpPr>
          <p:cNvPr id="38" name="Freeform 38"/>
          <p:cNvSpPr/>
          <p:nvPr/>
        </p:nvSpPr>
        <p:spPr>
          <a:xfrm>
            <a:off x="9505326" y="8099255"/>
            <a:ext cx="5131370" cy="1931261"/>
          </a:xfrm>
          <a:custGeom>
            <a:avLst/>
            <a:gdLst/>
            <a:ahLst/>
            <a:cxnLst/>
            <a:rect l="l" t="t" r="r" b="b"/>
            <a:pathLst>
              <a:path w="5131370" h="1931261">
                <a:moveTo>
                  <a:pt x="0" y="0"/>
                </a:moveTo>
                <a:lnTo>
                  <a:pt x="5131369" y="0"/>
                </a:lnTo>
                <a:lnTo>
                  <a:pt x="5131369" y="1931261"/>
                </a:lnTo>
                <a:lnTo>
                  <a:pt x="0" y="193126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D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06333" y="4342989"/>
            <a:ext cx="19500667" cy="5354087"/>
          </a:xfrm>
          <a:custGeom>
            <a:avLst/>
            <a:gdLst/>
            <a:ahLst/>
            <a:cxnLst/>
            <a:rect l="l" t="t" r="r" b="b"/>
            <a:pathLst>
              <a:path w="19500667" h="5354087">
                <a:moveTo>
                  <a:pt x="0" y="0"/>
                </a:moveTo>
                <a:lnTo>
                  <a:pt x="19500666" y="0"/>
                </a:lnTo>
                <a:lnTo>
                  <a:pt x="19500666" y="5354088"/>
                </a:lnTo>
                <a:lnTo>
                  <a:pt x="0" y="5354088"/>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txBody>
          <a:bodyPr/>
          <a:lstStyle/>
          <a:p>
            <a:endParaRPr lang="en-DE"/>
          </a:p>
        </p:txBody>
      </p:sp>
      <p:sp>
        <p:nvSpPr>
          <p:cNvPr id="3" name="Freeform 3"/>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DE"/>
          </a:p>
        </p:txBody>
      </p:sp>
      <p:grpSp>
        <p:nvGrpSpPr>
          <p:cNvPr id="4" name="Group 4"/>
          <p:cNvGrpSpPr/>
          <p:nvPr/>
        </p:nvGrpSpPr>
        <p:grpSpPr>
          <a:xfrm>
            <a:off x="1028700" y="1624115"/>
            <a:ext cx="16230600" cy="7634185"/>
            <a:chOff x="0" y="0"/>
            <a:chExt cx="4274726" cy="2010650"/>
          </a:xfrm>
        </p:grpSpPr>
        <p:sp>
          <p:nvSpPr>
            <p:cNvPr id="5" name="Freeform 5"/>
            <p:cNvSpPr/>
            <p:nvPr/>
          </p:nvSpPr>
          <p:spPr>
            <a:xfrm>
              <a:off x="0" y="0"/>
              <a:ext cx="4274726" cy="2010650"/>
            </a:xfrm>
            <a:custGeom>
              <a:avLst/>
              <a:gdLst/>
              <a:ahLst/>
              <a:cxnLst/>
              <a:rect l="l" t="t" r="r" b="b"/>
              <a:pathLst>
                <a:path w="4274726" h="2010650">
                  <a:moveTo>
                    <a:pt x="12879" y="0"/>
                  </a:moveTo>
                  <a:lnTo>
                    <a:pt x="4261847" y="0"/>
                  </a:lnTo>
                  <a:cubicBezTo>
                    <a:pt x="4268960" y="0"/>
                    <a:pt x="4274726" y="5766"/>
                    <a:pt x="4274726" y="12879"/>
                  </a:cubicBezTo>
                  <a:lnTo>
                    <a:pt x="4274726" y="1997771"/>
                  </a:lnTo>
                  <a:cubicBezTo>
                    <a:pt x="4274726" y="2001186"/>
                    <a:pt x="4273369" y="2004462"/>
                    <a:pt x="4270954" y="2006878"/>
                  </a:cubicBezTo>
                  <a:cubicBezTo>
                    <a:pt x="4268539" y="2009293"/>
                    <a:pt x="4265263" y="2010650"/>
                    <a:pt x="4261847" y="2010650"/>
                  </a:cubicBezTo>
                  <a:lnTo>
                    <a:pt x="12879" y="2010650"/>
                  </a:lnTo>
                  <a:cubicBezTo>
                    <a:pt x="5766" y="2010650"/>
                    <a:pt x="0" y="2004883"/>
                    <a:pt x="0" y="1997771"/>
                  </a:cubicBezTo>
                  <a:lnTo>
                    <a:pt x="0" y="12879"/>
                  </a:lnTo>
                  <a:cubicBezTo>
                    <a:pt x="0" y="5766"/>
                    <a:pt x="5766" y="0"/>
                    <a:pt x="12879" y="0"/>
                  </a:cubicBezTo>
                  <a:close/>
                </a:path>
              </a:pathLst>
            </a:custGeom>
            <a:solidFill>
              <a:srgbClr val="FFFFFF"/>
            </a:solidFill>
          </p:spPr>
          <p:txBody>
            <a:bodyPr/>
            <a:lstStyle/>
            <a:p>
              <a:endParaRPr lang="en-DE"/>
            </a:p>
          </p:txBody>
        </p:sp>
        <p:sp>
          <p:nvSpPr>
            <p:cNvPr id="6" name="TextBox 6"/>
            <p:cNvSpPr txBox="1"/>
            <p:nvPr/>
          </p:nvSpPr>
          <p:spPr>
            <a:xfrm>
              <a:off x="0" y="-38100"/>
              <a:ext cx="4274726" cy="204875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DE"/>
          </a:p>
        </p:txBody>
      </p:sp>
      <p:grpSp>
        <p:nvGrpSpPr>
          <p:cNvPr id="8" name="Group 8"/>
          <p:cNvGrpSpPr/>
          <p:nvPr/>
        </p:nvGrpSpPr>
        <p:grpSpPr>
          <a:xfrm>
            <a:off x="-1562147" y="9258300"/>
            <a:ext cx="21205933" cy="8243149"/>
            <a:chOff x="0" y="0"/>
            <a:chExt cx="5585102" cy="2171035"/>
          </a:xfrm>
        </p:grpSpPr>
        <p:sp>
          <p:nvSpPr>
            <p:cNvPr id="9" name="Freeform 9"/>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txBody>
            <a:bodyPr/>
            <a:lstStyle/>
            <a:p>
              <a:endParaRPr lang="en-DE"/>
            </a:p>
          </p:txBody>
        </p:sp>
        <p:sp>
          <p:nvSpPr>
            <p:cNvPr id="10" name="TextBox 10"/>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1" name="Group 11"/>
          <p:cNvGrpSpPr/>
          <p:nvPr/>
        </p:nvGrpSpPr>
        <p:grpSpPr>
          <a:xfrm>
            <a:off x="553409" y="9739067"/>
            <a:ext cx="17181183" cy="110498"/>
            <a:chOff x="0" y="0"/>
            <a:chExt cx="22908243" cy="147331"/>
          </a:xfrm>
        </p:grpSpPr>
        <p:grpSp>
          <p:nvGrpSpPr>
            <p:cNvPr id="12" name="Group 12"/>
            <p:cNvGrpSpPr/>
            <p:nvPr/>
          </p:nvGrpSpPr>
          <p:grpSpPr>
            <a:xfrm>
              <a:off x="0"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96871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793723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0594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5847313"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9816024"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0" name="Freeform 30"/>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1" name="TextBox 31"/>
          <p:cNvSpPr txBox="1"/>
          <p:nvPr/>
        </p:nvSpPr>
        <p:spPr>
          <a:xfrm>
            <a:off x="4096289" y="2192864"/>
            <a:ext cx="11961958" cy="1066800"/>
          </a:xfrm>
          <a:prstGeom prst="rect">
            <a:avLst/>
          </a:prstGeom>
        </p:spPr>
        <p:txBody>
          <a:bodyPr lIns="0" tIns="0" rIns="0" bIns="0" rtlCol="0" anchor="t">
            <a:spAutoFit/>
          </a:bodyPr>
          <a:lstStyle/>
          <a:p>
            <a:pPr algn="l">
              <a:lnSpc>
                <a:spcPts val="4200"/>
              </a:lnSpc>
              <a:spcBef>
                <a:spcPct val="0"/>
              </a:spcBef>
            </a:pPr>
            <a:r>
              <a:rPr lang="en-US" sz="3000" b="1" dirty="0">
                <a:solidFill>
                  <a:srgbClr val="202124"/>
                </a:solidFill>
                <a:latin typeface="Public Sans Bold"/>
                <a:ea typeface="Public Sans Bold"/>
                <a:cs typeface="Public Sans Bold"/>
                <a:sym typeface="Public Sans Bold"/>
              </a:rPr>
              <a:t>The 15-minute time-boxed event where the Developers inspect progress toward the Sprint Goal using the Scrum Board.</a:t>
            </a:r>
          </a:p>
        </p:txBody>
      </p:sp>
      <p:sp>
        <p:nvSpPr>
          <p:cNvPr id="32" name="TextBox 32"/>
          <p:cNvSpPr txBox="1"/>
          <p:nvPr/>
        </p:nvSpPr>
        <p:spPr>
          <a:xfrm>
            <a:off x="4125152" y="3555716"/>
            <a:ext cx="11358266" cy="4343625"/>
          </a:xfrm>
          <a:prstGeom prst="rect">
            <a:avLst/>
          </a:prstGeom>
        </p:spPr>
        <p:txBody>
          <a:bodyPr lIns="0" tIns="0" rIns="0" bIns="0" rtlCol="0" anchor="t">
            <a:spAutoFit/>
          </a:bodyPr>
          <a:lstStyle/>
          <a:p>
            <a:pPr algn="just">
              <a:lnSpc>
                <a:spcPts val="3784"/>
              </a:lnSpc>
            </a:pPr>
            <a:r>
              <a:rPr lang="en-US" sz="2703" dirty="0">
                <a:solidFill>
                  <a:srgbClr val="202124"/>
                </a:solidFill>
                <a:latin typeface="Public Sans"/>
                <a:ea typeface="Public Sans"/>
                <a:cs typeface="Public Sans"/>
                <a:sym typeface="Public Sans"/>
              </a:rPr>
              <a:t>During each meeting, sometimes lasting more than 15 minutes. </a:t>
            </a:r>
          </a:p>
          <a:p>
            <a:pPr algn="just">
              <a:lnSpc>
                <a:spcPts val="3784"/>
              </a:lnSpc>
            </a:pPr>
            <a:endParaRPr lang="en-US" sz="2703" dirty="0">
              <a:solidFill>
                <a:srgbClr val="202124"/>
              </a:solidFill>
              <a:latin typeface="Public Sans"/>
              <a:ea typeface="Public Sans"/>
              <a:cs typeface="Public Sans"/>
              <a:sym typeface="Public Sans"/>
            </a:endParaRPr>
          </a:p>
          <a:p>
            <a:pPr marL="583673" lvl="1" indent="-291837" algn="just">
              <a:lnSpc>
                <a:spcPts val="3784"/>
              </a:lnSpc>
              <a:buFont typeface="Arial"/>
              <a:buChar char="•"/>
            </a:pPr>
            <a:r>
              <a:rPr lang="en-US" sz="2703" dirty="0">
                <a:solidFill>
                  <a:srgbClr val="202124"/>
                </a:solidFill>
                <a:latin typeface="Public Sans"/>
                <a:ea typeface="Public Sans"/>
                <a:cs typeface="Public Sans"/>
                <a:sym typeface="Public Sans"/>
              </a:rPr>
              <a:t>We use our Scrum Board to manage and track our workflow. </a:t>
            </a:r>
          </a:p>
          <a:p>
            <a:pPr algn="just">
              <a:lnSpc>
                <a:spcPts val="3784"/>
              </a:lnSpc>
            </a:pPr>
            <a:endParaRPr lang="en-US" sz="2703" dirty="0">
              <a:solidFill>
                <a:srgbClr val="202124"/>
              </a:solidFill>
              <a:latin typeface="Public Sans"/>
              <a:ea typeface="Public Sans"/>
              <a:cs typeface="Public Sans"/>
              <a:sym typeface="Public Sans"/>
            </a:endParaRPr>
          </a:p>
          <a:p>
            <a:pPr marL="583673" lvl="1" indent="-291837" algn="just">
              <a:lnSpc>
                <a:spcPts val="3784"/>
              </a:lnSpc>
              <a:buFont typeface="Arial"/>
              <a:buChar char="•"/>
            </a:pPr>
            <a:r>
              <a:rPr lang="en-US" sz="2703" dirty="0">
                <a:solidFill>
                  <a:srgbClr val="202124"/>
                </a:solidFill>
                <a:latin typeface="Public Sans"/>
                <a:ea typeface="Public Sans"/>
                <a:cs typeface="Public Sans"/>
                <a:sym typeface="Public Sans"/>
              </a:rPr>
              <a:t>Sprint Planning begins in the To Do column, where all tasks move through the stages To Do → In Progress → Done. </a:t>
            </a:r>
          </a:p>
          <a:p>
            <a:pPr algn="just">
              <a:lnSpc>
                <a:spcPts val="3784"/>
              </a:lnSpc>
            </a:pPr>
            <a:endParaRPr lang="en-US" sz="2703" dirty="0">
              <a:solidFill>
                <a:srgbClr val="202124"/>
              </a:solidFill>
              <a:latin typeface="Public Sans"/>
              <a:ea typeface="Public Sans"/>
              <a:cs typeface="Public Sans"/>
              <a:sym typeface="Public Sans"/>
            </a:endParaRPr>
          </a:p>
          <a:p>
            <a:pPr marL="583673" lvl="1" indent="-291837" algn="just">
              <a:lnSpc>
                <a:spcPts val="3784"/>
              </a:lnSpc>
              <a:buFont typeface="Arial"/>
              <a:buChar char="•"/>
            </a:pPr>
            <a:r>
              <a:rPr lang="en-US" sz="2703" dirty="0">
                <a:solidFill>
                  <a:srgbClr val="202124"/>
                </a:solidFill>
                <a:latin typeface="Public Sans"/>
                <a:ea typeface="Public Sans"/>
                <a:cs typeface="Public Sans"/>
                <a:sym typeface="Public Sans"/>
              </a:rPr>
              <a:t>All tasks committed to in the sprint are reflected on this board.                                    </a:t>
            </a:r>
          </a:p>
          <a:p>
            <a:pPr algn="just">
              <a:lnSpc>
                <a:spcPts val="3784"/>
              </a:lnSpc>
              <a:spcBef>
                <a:spcPct val="0"/>
              </a:spcBef>
            </a:pPr>
            <a:endParaRPr lang="en-US" sz="2703" dirty="0">
              <a:solidFill>
                <a:srgbClr val="202124"/>
              </a:solidFill>
              <a:latin typeface="Public Sans"/>
              <a:ea typeface="Public Sans"/>
              <a:cs typeface="Public Sans"/>
              <a:sym typeface="Public Sans"/>
            </a:endParaRPr>
          </a:p>
        </p:txBody>
      </p:sp>
      <p:sp>
        <p:nvSpPr>
          <p:cNvPr id="33" name="Freeform 33"/>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DE"/>
          </a:p>
        </p:txBody>
      </p:sp>
      <p:sp>
        <p:nvSpPr>
          <p:cNvPr id="34" name="Freeform 34"/>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DE"/>
          </a:p>
        </p:txBody>
      </p:sp>
      <p:sp>
        <p:nvSpPr>
          <p:cNvPr id="35" name="Freeform 35"/>
          <p:cNvSpPr/>
          <p:nvPr/>
        </p:nvSpPr>
        <p:spPr>
          <a:xfrm rot="-2459989">
            <a:off x="16678542"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DE"/>
          </a:p>
        </p:txBody>
      </p:sp>
      <p:sp>
        <p:nvSpPr>
          <p:cNvPr id="36" name="TextBox 36"/>
          <p:cNvSpPr txBox="1"/>
          <p:nvPr/>
        </p:nvSpPr>
        <p:spPr>
          <a:xfrm>
            <a:off x="4133759" y="1181536"/>
            <a:ext cx="12777653" cy="1182342"/>
          </a:xfrm>
          <a:prstGeom prst="rect">
            <a:avLst/>
          </a:prstGeom>
        </p:spPr>
        <p:txBody>
          <a:bodyPr lIns="0" tIns="0" rIns="0" bIns="0" rtlCol="0" anchor="t">
            <a:spAutoFit/>
          </a:bodyPr>
          <a:lstStyle/>
          <a:p>
            <a:pPr marL="0" lvl="0" indent="0" algn="l">
              <a:lnSpc>
                <a:spcPts val="7516"/>
              </a:lnSpc>
              <a:spcBef>
                <a:spcPct val="0"/>
              </a:spcBef>
            </a:pPr>
            <a:r>
              <a:rPr lang="en-US" sz="10021">
                <a:solidFill>
                  <a:srgbClr val="F9C324"/>
                </a:solidFill>
                <a:latin typeface="Cubao"/>
                <a:ea typeface="Cubao"/>
                <a:cs typeface="Cubao"/>
                <a:sym typeface="Cubao"/>
              </a:rPr>
              <a:t>DAILY SCRUM</a:t>
            </a:r>
          </a:p>
        </p:txBody>
      </p:sp>
      <p:sp>
        <p:nvSpPr>
          <p:cNvPr id="37" name="Freeform 37"/>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8" name="Freeform 38"/>
          <p:cNvSpPr/>
          <p:nvPr/>
        </p:nvSpPr>
        <p:spPr>
          <a:xfrm>
            <a:off x="8450269" y="8099255"/>
            <a:ext cx="5131370" cy="1931261"/>
          </a:xfrm>
          <a:custGeom>
            <a:avLst/>
            <a:gdLst/>
            <a:ahLst/>
            <a:cxnLst/>
            <a:rect l="l" t="t" r="r" b="b"/>
            <a:pathLst>
              <a:path w="5131370" h="1931261">
                <a:moveTo>
                  <a:pt x="0" y="0"/>
                </a:moveTo>
                <a:lnTo>
                  <a:pt x="5131370" y="0"/>
                </a:lnTo>
                <a:lnTo>
                  <a:pt x="5131370" y="1931261"/>
                </a:lnTo>
                <a:lnTo>
                  <a:pt x="0" y="193126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D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06333" y="4342989"/>
            <a:ext cx="19500667" cy="5354087"/>
          </a:xfrm>
          <a:custGeom>
            <a:avLst/>
            <a:gdLst/>
            <a:ahLst/>
            <a:cxnLst/>
            <a:rect l="l" t="t" r="r" b="b"/>
            <a:pathLst>
              <a:path w="19500667" h="5354087">
                <a:moveTo>
                  <a:pt x="0" y="0"/>
                </a:moveTo>
                <a:lnTo>
                  <a:pt x="19500666" y="0"/>
                </a:lnTo>
                <a:lnTo>
                  <a:pt x="19500666" y="5354088"/>
                </a:lnTo>
                <a:lnTo>
                  <a:pt x="0" y="5354088"/>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txBody>
          <a:bodyPr/>
          <a:lstStyle/>
          <a:p>
            <a:endParaRPr lang="en-DE"/>
          </a:p>
        </p:txBody>
      </p:sp>
      <p:sp>
        <p:nvSpPr>
          <p:cNvPr id="3" name="Freeform 3"/>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DE"/>
          </a:p>
        </p:txBody>
      </p:sp>
      <p:grpSp>
        <p:nvGrpSpPr>
          <p:cNvPr id="4" name="Group 4"/>
          <p:cNvGrpSpPr/>
          <p:nvPr/>
        </p:nvGrpSpPr>
        <p:grpSpPr>
          <a:xfrm>
            <a:off x="1028700" y="1624115"/>
            <a:ext cx="16230600" cy="7634185"/>
            <a:chOff x="0" y="0"/>
            <a:chExt cx="4274726" cy="2010650"/>
          </a:xfrm>
        </p:grpSpPr>
        <p:sp>
          <p:nvSpPr>
            <p:cNvPr id="5" name="Freeform 5"/>
            <p:cNvSpPr/>
            <p:nvPr/>
          </p:nvSpPr>
          <p:spPr>
            <a:xfrm>
              <a:off x="0" y="0"/>
              <a:ext cx="4274726" cy="2010650"/>
            </a:xfrm>
            <a:custGeom>
              <a:avLst/>
              <a:gdLst/>
              <a:ahLst/>
              <a:cxnLst/>
              <a:rect l="l" t="t" r="r" b="b"/>
              <a:pathLst>
                <a:path w="4274726" h="2010650">
                  <a:moveTo>
                    <a:pt x="12879" y="0"/>
                  </a:moveTo>
                  <a:lnTo>
                    <a:pt x="4261847" y="0"/>
                  </a:lnTo>
                  <a:cubicBezTo>
                    <a:pt x="4268960" y="0"/>
                    <a:pt x="4274726" y="5766"/>
                    <a:pt x="4274726" y="12879"/>
                  </a:cubicBezTo>
                  <a:lnTo>
                    <a:pt x="4274726" y="1997771"/>
                  </a:lnTo>
                  <a:cubicBezTo>
                    <a:pt x="4274726" y="2001186"/>
                    <a:pt x="4273369" y="2004462"/>
                    <a:pt x="4270954" y="2006878"/>
                  </a:cubicBezTo>
                  <a:cubicBezTo>
                    <a:pt x="4268539" y="2009293"/>
                    <a:pt x="4265263" y="2010650"/>
                    <a:pt x="4261847" y="2010650"/>
                  </a:cubicBezTo>
                  <a:lnTo>
                    <a:pt x="12879" y="2010650"/>
                  </a:lnTo>
                  <a:cubicBezTo>
                    <a:pt x="5766" y="2010650"/>
                    <a:pt x="0" y="2004883"/>
                    <a:pt x="0" y="1997771"/>
                  </a:cubicBezTo>
                  <a:lnTo>
                    <a:pt x="0" y="12879"/>
                  </a:lnTo>
                  <a:cubicBezTo>
                    <a:pt x="0" y="5766"/>
                    <a:pt x="5766" y="0"/>
                    <a:pt x="12879" y="0"/>
                  </a:cubicBezTo>
                  <a:close/>
                </a:path>
              </a:pathLst>
            </a:custGeom>
            <a:solidFill>
              <a:srgbClr val="FFFFFF"/>
            </a:solidFill>
          </p:spPr>
          <p:txBody>
            <a:bodyPr/>
            <a:lstStyle/>
            <a:p>
              <a:endParaRPr lang="en-DE"/>
            </a:p>
          </p:txBody>
        </p:sp>
        <p:sp>
          <p:nvSpPr>
            <p:cNvPr id="6" name="TextBox 6"/>
            <p:cNvSpPr txBox="1"/>
            <p:nvPr/>
          </p:nvSpPr>
          <p:spPr>
            <a:xfrm>
              <a:off x="0" y="-38100"/>
              <a:ext cx="4274726" cy="204875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DE"/>
          </a:p>
        </p:txBody>
      </p:sp>
      <p:grpSp>
        <p:nvGrpSpPr>
          <p:cNvPr id="8" name="Group 8"/>
          <p:cNvGrpSpPr/>
          <p:nvPr/>
        </p:nvGrpSpPr>
        <p:grpSpPr>
          <a:xfrm>
            <a:off x="-1562147" y="9258300"/>
            <a:ext cx="21205933" cy="8243149"/>
            <a:chOff x="0" y="0"/>
            <a:chExt cx="5585102" cy="2171035"/>
          </a:xfrm>
        </p:grpSpPr>
        <p:sp>
          <p:nvSpPr>
            <p:cNvPr id="9" name="Freeform 9"/>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txBody>
            <a:bodyPr/>
            <a:lstStyle/>
            <a:p>
              <a:endParaRPr lang="en-DE"/>
            </a:p>
          </p:txBody>
        </p:sp>
        <p:sp>
          <p:nvSpPr>
            <p:cNvPr id="10" name="TextBox 10"/>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1" name="Group 11"/>
          <p:cNvGrpSpPr/>
          <p:nvPr/>
        </p:nvGrpSpPr>
        <p:grpSpPr>
          <a:xfrm>
            <a:off x="553409" y="9739067"/>
            <a:ext cx="17181183" cy="110498"/>
            <a:chOff x="0" y="0"/>
            <a:chExt cx="22908243" cy="147331"/>
          </a:xfrm>
        </p:grpSpPr>
        <p:grpSp>
          <p:nvGrpSpPr>
            <p:cNvPr id="12" name="Group 12"/>
            <p:cNvGrpSpPr/>
            <p:nvPr/>
          </p:nvGrpSpPr>
          <p:grpSpPr>
            <a:xfrm>
              <a:off x="0"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96871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793723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0594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5847313"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9816024"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0" name="Freeform 30"/>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1" name="Freeform 31"/>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DE"/>
          </a:p>
        </p:txBody>
      </p:sp>
      <p:sp>
        <p:nvSpPr>
          <p:cNvPr id="32" name="Freeform 32"/>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DE"/>
          </a:p>
        </p:txBody>
      </p:sp>
      <p:sp>
        <p:nvSpPr>
          <p:cNvPr id="33" name="Freeform 33"/>
          <p:cNvSpPr/>
          <p:nvPr/>
        </p:nvSpPr>
        <p:spPr>
          <a:xfrm rot="-2459989">
            <a:off x="16678542"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DE"/>
          </a:p>
        </p:txBody>
      </p:sp>
      <p:sp>
        <p:nvSpPr>
          <p:cNvPr id="34" name="Freeform 34"/>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5" name="Freeform 35"/>
          <p:cNvSpPr/>
          <p:nvPr/>
        </p:nvSpPr>
        <p:spPr>
          <a:xfrm>
            <a:off x="6993580" y="3881819"/>
            <a:ext cx="8194537" cy="5109243"/>
          </a:xfrm>
          <a:custGeom>
            <a:avLst/>
            <a:gdLst/>
            <a:ahLst/>
            <a:cxnLst/>
            <a:rect l="l" t="t" r="r" b="b"/>
            <a:pathLst>
              <a:path w="8194537" h="5109243">
                <a:moveTo>
                  <a:pt x="0" y="0"/>
                </a:moveTo>
                <a:lnTo>
                  <a:pt x="8194537" y="0"/>
                </a:lnTo>
                <a:lnTo>
                  <a:pt x="8194537" y="5109244"/>
                </a:lnTo>
                <a:lnTo>
                  <a:pt x="0" y="5109244"/>
                </a:lnTo>
                <a:lnTo>
                  <a:pt x="0" y="0"/>
                </a:lnTo>
                <a:close/>
              </a:path>
            </a:pathLst>
          </a:custGeom>
          <a:blipFill>
            <a:blip r:embed="rId16"/>
            <a:stretch>
              <a:fillRect t="-1190" b="-1190"/>
            </a:stretch>
          </a:blipFill>
        </p:spPr>
        <p:txBody>
          <a:bodyPr/>
          <a:lstStyle/>
          <a:p>
            <a:endParaRPr lang="en-DE"/>
          </a:p>
        </p:txBody>
      </p:sp>
      <p:sp>
        <p:nvSpPr>
          <p:cNvPr id="36" name="TextBox 36"/>
          <p:cNvSpPr txBox="1"/>
          <p:nvPr/>
        </p:nvSpPr>
        <p:spPr>
          <a:xfrm>
            <a:off x="4133759" y="2329385"/>
            <a:ext cx="12250001" cy="1066800"/>
          </a:xfrm>
          <a:prstGeom prst="rect">
            <a:avLst/>
          </a:prstGeom>
        </p:spPr>
        <p:txBody>
          <a:bodyPr lIns="0" tIns="0" rIns="0" bIns="0" rtlCol="0" anchor="t">
            <a:spAutoFit/>
          </a:bodyPr>
          <a:lstStyle/>
          <a:p>
            <a:pPr algn="l">
              <a:lnSpc>
                <a:spcPts val="4200"/>
              </a:lnSpc>
              <a:spcBef>
                <a:spcPct val="0"/>
              </a:spcBef>
            </a:pPr>
            <a:r>
              <a:rPr lang="en-US" sz="3000" dirty="0">
                <a:solidFill>
                  <a:srgbClr val="202124"/>
                </a:solidFill>
                <a:latin typeface="Public Sans"/>
                <a:ea typeface="Public Sans"/>
                <a:cs typeface="Public Sans"/>
                <a:sym typeface="Public Sans"/>
              </a:rPr>
              <a:t>Visual tool used to track the progress of sprint tasks, showing work moving from To Do, to In Progress, to Done.</a:t>
            </a:r>
          </a:p>
        </p:txBody>
      </p:sp>
      <p:sp>
        <p:nvSpPr>
          <p:cNvPr id="37" name="TextBox 37"/>
          <p:cNvSpPr txBox="1"/>
          <p:nvPr/>
        </p:nvSpPr>
        <p:spPr>
          <a:xfrm>
            <a:off x="4133759" y="1181536"/>
            <a:ext cx="8535717" cy="1182342"/>
          </a:xfrm>
          <a:prstGeom prst="rect">
            <a:avLst/>
          </a:prstGeom>
        </p:spPr>
        <p:txBody>
          <a:bodyPr lIns="0" tIns="0" rIns="0" bIns="0" rtlCol="0" anchor="t">
            <a:spAutoFit/>
          </a:bodyPr>
          <a:lstStyle/>
          <a:p>
            <a:pPr marL="0" lvl="0" indent="0" algn="l">
              <a:lnSpc>
                <a:spcPts val="7516"/>
              </a:lnSpc>
              <a:spcBef>
                <a:spcPct val="0"/>
              </a:spcBef>
            </a:pPr>
            <a:r>
              <a:rPr lang="en-US" sz="10021">
                <a:solidFill>
                  <a:srgbClr val="F9C324"/>
                </a:solidFill>
                <a:latin typeface="Cubao"/>
                <a:ea typeface="Cubao"/>
                <a:cs typeface="Cubao"/>
                <a:sym typeface="Cubao"/>
              </a:rPr>
              <a:t>SCRUM BOARD</a:t>
            </a:r>
          </a:p>
        </p:txBody>
      </p:sp>
      <p:sp>
        <p:nvSpPr>
          <p:cNvPr id="38" name="Freeform 38"/>
          <p:cNvSpPr/>
          <p:nvPr/>
        </p:nvSpPr>
        <p:spPr>
          <a:xfrm>
            <a:off x="5461859" y="8073057"/>
            <a:ext cx="5131370" cy="1931261"/>
          </a:xfrm>
          <a:custGeom>
            <a:avLst/>
            <a:gdLst/>
            <a:ahLst/>
            <a:cxnLst/>
            <a:rect l="l" t="t" r="r" b="b"/>
            <a:pathLst>
              <a:path w="5131370" h="1931261">
                <a:moveTo>
                  <a:pt x="0" y="0"/>
                </a:moveTo>
                <a:lnTo>
                  <a:pt x="5131370" y="0"/>
                </a:lnTo>
                <a:lnTo>
                  <a:pt x="5131370" y="1931261"/>
                </a:lnTo>
                <a:lnTo>
                  <a:pt x="0" y="193126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D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06333" y="4342989"/>
            <a:ext cx="19500667" cy="5354087"/>
          </a:xfrm>
          <a:custGeom>
            <a:avLst/>
            <a:gdLst/>
            <a:ahLst/>
            <a:cxnLst/>
            <a:rect l="l" t="t" r="r" b="b"/>
            <a:pathLst>
              <a:path w="19500667" h="5354087">
                <a:moveTo>
                  <a:pt x="0" y="0"/>
                </a:moveTo>
                <a:lnTo>
                  <a:pt x="19500666" y="0"/>
                </a:lnTo>
                <a:lnTo>
                  <a:pt x="19500666" y="5354088"/>
                </a:lnTo>
                <a:lnTo>
                  <a:pt x="0" y="5354088"/>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txBody>
          <a:bodyPr/>
          <a:lstStyle/>
          <a:p>
            <a:endParaRPr lang="en-DE"/>
          </a:p>
        </p:txBody>
      </p:sp>
      <p:sp>
        <p:nvSpPr>
          <p:cNvPr id="3" name="Freeform 3"/>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DE"/>
          </a:p>
        </p:txBody>
      </p:sp>
      <p:grpSp>
        <p:nvGrpSpPr>
          <p:cNvPr id="4" name="Group 4"/>
          <p:cNvGrpSpPr/>
          <p:nvPr/>
        </p:nvGrpSpPr>
        <p:grpSpPr>
          <a:xfrm>
            <a:off x="1028700" y="1624115"/>
            <a:ext cx="16230600" cy="7634185"/>
            <a:chOff x="0" y="0"/>
            <a:chExt cx="4274726" cy="2010650"/>
          </a:xfrm>
        </p:grpSpPr>
        <p:sp>
          <p:nvSpPr>
            <p:cNvPr id="5" name="Freeform 5"/>
            <p:cNvSpPr/>
            <p:nvPr/>
          </p:nvSpPr>
          <p:spPr>
            <a:xfrm>
              <a:off x="0" y="0"/>
              <a:ext cx="4274726" cy="2010650"/>
            </a:xfrm>
            <a:custGeom>
              <a:avLst/>
              <a:gdLst/>
              <a:ahLst/>
              <a:cxnLst/>
              <a:rect l="l" t="t" r="r" b="b"/>
              <a:pathLst>
                <a:path w="4274726" h="2010650">
                  <a:moveTo>
                    <a:pt x="12879" y="0"/>
                  </a:moveTo>
                  <a:lnTo>
                    <a:pt x="4261847" y="0"/>
                  </a:lnTo>
                  <a:cubicBezTo>
                    <a:pt x="4268960" y="0"/>
                    <a:pt x="4274726" y="5766"/>
                    <a:pt x="4274726" y="12879"/>
                  </a:cubicBezTo>
                  <a:lnTo>
                    <a:pt x="4274726" y="1997771"/>
                  </a:lnTo>
                  <a:cubicBezTo>
                    <a:pt x="4274726" y="2001186"/>
                    <a:pt x="4273369" y="2004462"/>
                    <a:pt x="4270954" y="2006878"/>
                  </a:cubicBezTo>
                  <a:cubicBezTo>
                    <a:pt x="4268539" y="2009293"/>
                    <a:pt x="4265263" y="2010650"/>
                    <a:pt x="4261847" y="2010650"/>
                  </a:cubicBezTo>
                  <a:lnTo>
                    <a:pt x="12879" y="2010650"/>
                  </a:lnTo>
                  <a:cubicBezTo>
                    <a:pt x="5766" y="2010650"/>
                    <a:pt x="0" y="2004883"/>
                    <a:pt x="0" y="1997771"/>
                  </a:cubicBezTo>
                  <a:lnTo>
                    <a:pt x="0" y="12879"/>
                  </a:lnTo>
                  <a:cubicBezTo>
                    <a:pt x="0" y="5766"/>
                    <a:pt x="5766" y="0"/>
                    <a:pt x="12879" y="0"/>
                  </a:cubicBezTo>
                  <a:close/>
                </a:path>
              </a:pathLst>
            </a:custGeom>
            <a:solidFill>
              <a:srgbClr val="FFFFFF"/>
            </a:solidFill>
          </p:spPr>
          <p:txBody>
            <a:bodyPr/>
            <a:lstStyle/>
            <a:p>
              <a:endParaRPr lang="en-DE"/>
            </a:p>
          </p:txBody>
        </p:sp>
        <p:sp>
          <p:nvSpPr>
            <p:cNvPr id="6" name="TextBox 6"/>
            <p:cNvSpPr txBox="1"/>
            <p:nvPr/>
          </p:nvSpPr>
          <p:spPr>
            <a:xfrm>
              <a:off x="0" y="-38100"/>
              <a:ext cx="4274726" cy="204875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DE"/>
          </a:p>
        </p:txBody>
      </p:sp>
      <p:grpSp>
        <p:nvGrpSpPr>
          <p:cNvPr id="8" name="Group 8"/>
          <p:cNvGrpSpPr/>
          <p:nvPr/>
        </p:nvGrpSpPr>
        <p:grpSpPr>
          <a:xfrm>
            <a:off x="-1562147" y="9258300"/>
            <a:ext cx="21205933" cy="8243149"/>
            <a:chOff x="0" y="0"/>
            <a:chExt cx="5585102" cy="2171035"/>
          </a:xfrm>
        </p:grpSpPr>
        <p:sp>
          <p:nvSpPr>
            <p:cNvPr id="9" name="Freeform 9"/>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txBody>
            <a:bodyPr/>
            <a:lstStyle/>
            <a:p>
              <a:endParaRPr lang="en-DE"/>
            </a:p>
          </p:txBody>
        </p:sp>
        <p:sp>
          <p:nvSpPr>
            <p:cNvPr id="10" name="TextBox 10"/>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1" name="Group 11"/>
          <p:cNvGrpSpPr/>
          <p:nvPr/>
        </p:nvGrpSpPr>
        <p:grpSpPr>
          <a:xfrm>
            <a:off x="553409" y="9739067"/>
            <a:ext cx="17181183" cy="110498"/>
            <a:chOff x="0" y="0"/>
            <a:chExt cx="22908243" cy="147331"/>
          </a:xfrm>
        </p:grpSpPr>
        <p:grpSp>
          <p:nvGrpSpPr>
            <p:cNvPr id="12" name="Group 12"/>
            <p:cNvGrpSpPr/>
            <p:nvPr/>
          </p:nvGrpSpPr>
          <p:grpSpPr>
            <a:xfrm>
              <a:off x="0"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96871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793723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0594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5847313"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9816024"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0" name="Freeform 30"/>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1" name="Freeform 31"/>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DE"/>
          </a:p>
        </p:txBody>
      </p:sp>
      <p:sp>
        <p:nvSpPr>
          <p:cNvPr id="32" name="Freeform 32"/>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DE"/>
          </a:p>
        </p:txBody>
      </p:sp>
      <p:sp>
        <p:nvSpPr>
          <p:cNvPr id="33" name="Freeform 33"/>
          <p:cNvSpPr/>
          <p:nvPr/>
        </p:nvSpPr>
        <p:spPr>
          <a:xfrm rot="-2459989">
            <a:off x="16678542"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DE"/>
          </a:p>
        </p:txBody>
      </p:sp>
      <p:sp>
        <p:nvSpPr>
          <p:cNvPr id="34" name="Freeform 34"/>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5" name="TextBox 35"/>
          <p:cNvSpPr txBox="1"/>
          <p:nvPr/>
        </p:nvSpPr>
        <p:spPr>
          <a:xfrm>
            <a:off x="4109375" y="2324344"/>
            <a:ext cx="12250001" cy="3733800"/>
          </a:xfrm>
          <a:prstGeom prst="rect">
            <a:avLst/>
          </a:prstGeom>
        </p:spPr>
        <p:txBody>
          <a:bodyPr lIns="0" tIns="0" rIns="0" bIns="0" rtlCol="0" anchor="t">
            <a:spAutoFit/>
          </a:bodyPr>
          <a:lstStyle/>
          <a:p>
            <a:pPr algn="l">
              <a:lnSpc>
                <a:spcPts val="4200"/>
              </a:lnSpc>
            </a:pPr>
            <a:r>
              <a:rPr lang="en-US" sz="3000" dirty="0">
                <a:solidFill>
                  <a:srgbClr val="202124"/>
                </a:solidFill>
                <a:latin typeface="Public Sans"/>
                <a:ea typeface="Public Sans"/>
                <a:cs typeface="Public Sans"/>
                <a:sym typeface="Public Sans"/>
              </a:rPr>
              <a:t>The burndown chart shows the remaining work in Sprint 1 and tracks progress toward completing all user stories. It visualizes how tasks decreased over time compared to the ideal burn rate.</a:t>
            </a:r>
          </a:p>
          <a:p>
            <a:pPr algn="l">
              <a:lnSpc>
                <a:spcPts val="4200"/>
              </a:lnSpc>
            </a:pPr>
            <a:endParaRPr lang="en-US" sz="3000" dirty="0">
              <a:solidFill>
                <a:srgbClr val="202124"/>
              </a:solidFill>
              <a:latin typeface="Public Sans"/>
              <a:ea typeface="Public Sans"/>
              <a:cs typeface="Public Sans"/>
              <a:sym typeface="Public Sans"/>
            </a:endParaRPr>
          </a:p>
          <a:p>
            <a:pPr algn="l">
              <a:lnSpc>
                <a:spcPts val="4200"/>
              </a:lnSpc>
              <a:spcBef>
                <a:spcPct val="0"/>
              </a:spcBef>
            </a:pPr>
            <a:r>
              <a:rPr lang="en-US" sz="3000" dirty="0">
                <a:solidFill>
                  <a:srgbClr val="202124"/>
                </a:solidFill>
                <a:latin typeface="Public Sans"/>
                <a:ea typeface="Public Sans"/>
                <a:cs typeface="Public Sans"/>
                <a:sym typeface="Public Sans"/>
              </a:rPr>
              <a:t>The Chart shows the remaining work in Sprint 1, tracks the progress of all user stories. Illustrate how tasks decreased overtime, compared to the ideal burn rate </a:t>
            </a:r>
          </a:p>
        </p:txBody>
      </p:sp>
      <p:sp>
        <p:nvSpPr>
          <p:cNvPr id="36" name="TextBox 36"/>
          <p:cNvSpPr txBox="1"/>
          <p:nvPr/>
        </p:nvSpPr>
        <p:spPr>
          <a:xfrm>
            <a:off x="4133759" y="1181536"/>
            <a:ext cx="11393217" cy="1182342"/>
          </a:xfrm>
          <a:prstGeom prst="rect">
            <a:avLst/>
          </a:prstGeom>
        </p:spPr>
        <p:txBody>
          <a:bodyPr lIns="0" tIns="0" rIns="0" bIns="0" rtlCol="0" anchor="t">
            <a:spAutoFit/>
          </a:bodyPr>
          <a:lstStyle/>
          <a:p>
            <a:pPr marL="0" lvl="0" indent="0" algn="l">
              <a:lnSpc>
                <a:spcPts val="7516"/>
              </a:lnSpc>
              <a:spcBef>
                <a:spcPct val="0"/>
              </a:spcBef>
            </a:pPr>
            <a:r>
              <a:rPr lang="en-US" sz="10021">
                <a:solidFill>
                  <a:srgbClr val="F9C324"/>
                </a:solidFill>
                <a:latin typeface="Cubao"/>
                <a:ea typeface="Cubao"/>
                <a:cs typeface="Cubao"/>
                <a:sym typeface="Cubao"/>
              </a:rPr>
              <a:t>BURNDOWN CHART</a:t>
            </a:r>
          </a:p>
        </p:txBody>
      </p:sp>
      <p:sp>
        <p:nvSpPr>
          <p:cNvPr id="37" name="Freeform 37"/>
          <p:cNvSpPr/>
          <p:nvPr/>
        </p:nvSpPr>
        <p:spPr>
          <a:xfrm>
            <a:off x="4133759" y="8073057"/>
            <a:ext cx="5131370" cy="1931261"/>
          </a:xfrm>
          <a:custGeom>
            <a:avLst/>
            <a:gdLst/>
            <a:ahLst/>
            <a:cxnLst/>
            <a:rect l="l" t="t" r="r" b="b"/>
            <a:pathLst>
              <a:path w="5131370" h="1931261">
                <a:moveTo>
                  <a:pt x="0" y="0"/>
                </a:moveTo>
                <a:lnTo>
                  <a:pt x="5131370" y="0"/>
                </a:lnTo>
                <a:lnTo>
                  <a:pt x="5131370" y="1931261"/>
                </a:lnTo>
                <a:lnTo>
                  <a:pt x="0" y="193126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D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06333" y="4342989"/>
            <a:ext cx="19500667" cy="5354087"/>
          </a:xfrm>
          <a:custGeom>
            <a:avLst/>
            <a:gdLst/>
            <a:ahLst/>
            <a:cxnLst/>
            <a:rect l="l" t="t" r="r" b="b"/>
            <a:pathLst>
              <a:path w="19500667" h="5354087">
                <a:moveTo>
                  <a:pt x="0" y="0"/>
                </a:moveTo>
                <a:lnTo>
                  <a:pt x="19500666" y="0"/>
                </a:lnTo>
                <a:lnTo>
                  <a:pt x="19500666" y="5354088"/>
                </a:lnTo>
                <a:lnTo>
                  <a:pt x="0" y="5354088"/>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txBody>
          <a:bodyPr/>
          <a:lstStyle/>
          <a:p>
            <a:endParaRPr lang="en-DE"/>
          </a:p>
        </p:txBody>
      </p:sp>
      <p:sp>
        <p:nvSpPr>
          <p:cNvPr id="3" name="Freeform 3"/>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DE"/>
          </a:p>
        </p:txBody>
      </p:sp>
      <p:grpSp>
        <p:nvGrpSpPr>
          <p:cNvPr id="4" name="Group 4"/>
          <p:cNvGrpSpPr/>
          <p:nvPr/>
        </p:nvGrpSpPr>
        <p:grpSpPr>
          <a:xfrm>
            <a:off x="1028700" y="1624115"/>
            <a:ext cx="16230600" cy="7634185"/>
            <a:chOff x="0" y="0"/>
            <a:chExt cx="4274726" cy="2010650"/>
          </a:xfrm>
        </p:grpSpPr>
        <p:sp>
          <p:nvSpPr>
            <p:cNvPr id="5" name="Freeform 5"/>
            <p:cNvSpPr/>
            <p:nvPr/>
          </p:nvSpPr>
          <p:spPr>
            <a:xfrm>
              <a:off x="0" y="0"/>
              <a:ext cx="4274726" cy="2010650"/>
            </a:xfrm>
            <a:custGeom>
              <a:avLst/>
              <a:gdLst/>
              <a:ahLst/>
              <a:cxnLst/>
              <a:rect l="l" t="t" r="r" b="b"/>
              <a:pathLst>
                <a:path w="4274726" h="2010650">
                  <a:moveTo>
                    <a:pt x="12879" y="0"/>
                  </a:moveTo>
                  <a:lnTo>
                    <a:pt x="4261847" y="0"/>
                  </a:lnTo>
                  <a:cubicBezTo>
                    <a:pt x="4268960" y="0"/>
                    <a:pt x="4274726" y="5766"/>
                    <a:pt x="4274726" y="12879"/>
                  </a:cubicBezTo>
                  <a:lnTo>
                    <a:pt x="4274726" y="1997771"/>
                  </a:lnTo>
                  <a:cubicBezTo>
                    <a:pt x="4274726" y="2001186"/>
                    <a:pt x="4273369" y="2004462"/>
                    <a:pt x="4270954" y="2006878"/>
                  </a:cubicBezTo>
                  <a:cubicBezTo>
                    <a:pt x="4268539" y="2009293"/>
                    <a:pt x="4265263" y="2010650"/>
                    <a:pt x="4261847" y="2010650"/>
                  </a:cubicBezTo>
                  <a:lnTo>
                    <a:pt x="12879" y="2010650"/>
                  </a:lnTo>
                  <a:cubicBezTo>
                    <a:pt x="5766" y="2010650"/>
                    <a:pt x="0" y="2004883"/>
                    <a:pt x="0" y="1997771"/>
                  </a:cubicBezTo>
                  <a:lnTo>
                    <a:pt x="0" y="12879"/>
                  </a:lnTo>
                  <a:cubicBezTo>
                    <a:pt x="0" y="5766"/>
                    <a:pt x="5766" y="0"/>
                    <a:pt x="12879" y="0"/>
                  </a:cubicBezTo>
                  <a:close/>
                </a:path>
              </a:pathLst>
            </a:custGeom>
            <a:solidFill>
              <a:srgbClr val="FFFFFF"/>
            </a:solidFill>
          </p:spPr>
          <p:txBody>
            <a:bodyPr/>
            <a:lstStyle/>
            <a:p>
              <a:endParaRPr lang="en-DE"/>
            </a:p>
          </p:txBody>
        </p:sp>
        <p:sp>
          <p:nvSpPr>
            <p:cNvPr id="6" name="TextBox 6"/>
            <p:cNvSpPr txBox="1"/>
            <p:nvPr/>
          </p:nvSpPr>
          <p:spPr>
            <a:xfrm>
              <a:off x="0" y="-38100"/>
              <a:ext cx="4274726" cy="204875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DE"/>
          </a:p>
        </p:txBody>
      </p:sp>
      <p:grpSp>
        <p:nvGrpSpPr>
          <p:cNvPr id="8" name="Group 8"/>
          <p:cNvGrpSpPr/>
          <p:nvPr/>
        </p:nvGrpSpPr>
        <p:grpSpPr>
          <a:xfrm>
            <a:off x="-1562147" y="9258300"/>
            <a:ext cx="21205933" cy="8243149"/>
            <a:chOff x="0" y="0"/>
            <a:chExt cx="5585102" cy="2171035"/>
          </a:xfrm>
        </p:grpSpPr>
        <p:sp>
          <p:nvSpPr>
            <p:cNvPr id="9" name="Freeform 9"/>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txBody>
            <a:bodyPr/>
            <a:lstStyle/>
            <a:p>
              <a:endParaRPr lang="en-DE"/>
            </a:p>
          </p:txBody>
        </p:sp>
        <p:sp>
          <p:nvSpPr>
            <p:cNvPr id="10" name="TextBox 10"/>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1" name="Group 11"/>
          <p:cNvGrpSpPr/>
          <p:nvPr/>
        </p:nvGrpSpPr>
        <p:grpSpPr>
          <a:xfrm>
            <a:off x="553409" y="9739067"/>
            <a:ext cx="17181183" cy="110498"/>
            <a:chOff x="0" y="0"/>
            <a:chExt cx="22908243" cy="147331"/>
          </a:xfrm>
        </p:grpSpPr>
        <p:grpSp>
          <p:nvGrpSpPr>
            <p:cNvPr id="12" name="Group 12"/>
            <p:cNvGrpSpPr/>
            <p:nvPr/>
          </p:nvGrpSpPr>
          <p:grpSpPr>
            <a:xfrm>
              <a:off x="0"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96871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793723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0594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5847313"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9816024"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0" name="Freeform 30"/>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1" name="Freeform 31"/>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DE"/>
          </a:p>
        </p:txBody>
      </p:sp>
      <p:sp>
        <p:nvSpPr>
          <p:cNvPr id="32" name="Freeform 32"/>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DE"/>
          </a:p>
        </p:txBody>
      </p:sp>
      <p:sp>
        <p:nvSpPr>
          <p:cNvPr id="33" name="Freeform 33"/>
          <p:cNvSpPr/>
          <p:nvPr/>
        </p:nvSpPr>
        <p:spPr>
          <a:xfrm rot="-2459989">
            <a:off x="16678542"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DE"/>
          </a:p>
        </p:txBody>
      </p:sp>
      <p:sp>
        <p:nvSpPr>
          <p:cNvPr id="34" name="Freeform 34"/>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5" name="Freeform 35"/>
          <p:cNvSpPr/>
          <p:nvPr/>
        </p:nvSpPr>
        <p:spPr>
          <a:xfrm>
            <a:off x="4381234" y="2222337"/>
            <a:ext cx="10671581" cy="6545236"/>
          </a:xfrm>
          <a:custGeom>
            <a:avLst/>
            <a:gdLst/>
            <a:ahLst/>
            <a:cxnLst/>
            <a:rect l="l" t="t" r="r" b="b"/>
            <a:pathLst>
              <a:path w="10671581" h="6545236">
                <a:moveTo>
                  <a:pt x="0" y="0"/>
                </a:moveTo>
                <a:lnTo>
                  <a:pt x="10671581" y="0"/>
                </a:lnTo>
                <a:lnTo>
                  <a:pt x="10671581" y="6545236"/>
                </a:lnTo>
                <a:lnTo>
                  <a:pt x="0" y="6545236"/>
                </a:lnTo>
                <a:lnTo>
                  <a:pt x="0" y="0"/>
                </a:lnTo>
                <a:close/>
              </a:path>
            </a:pathLst>
          </a:custGeom>
          <a:blipFill>
            <a:blip r:embed="rId16"/>
            <a:stretch>
              <a:fillRect/>
            </a:stretch>
          </a:blipFill>
        </p:spPr>
        <p:txBody>
          <a:bodyPr/>
          <a:lstStyle/>
          <a:p>
            <a:endParaRPr lang="en-DE"/>
          </a:p>
        </p:txBody>
      </p:sp>
      <p:sp>
        <p:nvSpPr>
          <p:cNvPr id="36" name="TextBox 36"/>
          <p:cNvSpPr txBox="1"/>
          <p:nvPr/>
        </p:nvSpPr>
        <p:spPr>
          <a:xfrm>
            <a:off x="4133759" y="1181536"/>
            <a:ext cx="11012217" cy="1182342"/>
          </a:xfrm>
          <a:prstGeom prst="rect">
            <a:avLst/>
          </a:prstGeom>
        </p:spPr>
        <p:txBody>
          <a:bodyPr lIns="0" tIns="0" rIns="0" bIns="0" rtlCol="0" anchor="t">
            <a:spAutoFit/>
          </a:bodyPr>
          <a:lstStyle/>
          <a:p>
            <a:pPr marL="0" lvl="0" indent="0" algn="l">
              <a:lnSpc>
                <a:spcPts val="7516"/>
              </a:lnSpc>
              <a:spcBef>
                <a:spcPct val="0"/>
              </a:spcBef>
            </a:pPr>
            <a:r>
              <a:rPr lang="en-US" sz="10021">
                <a:solidFill>
                  <a:srgbClr val="F9C324"/>
                </a:solidFill>
                <a:latin typeface="Cubao"/>
                <a:ea typeface="Cubao"/>
                <a:cs typeface="Cubao"/>
                <a:sym typeface="Cubao"/>
              </a:rPr>
              <a:t>BURNDOWN CHART</a:t>
            </a:r>
          </a:p>
        </p:txBody>
      </p:sp>
      <p:sp>
        <p:nvSpPr>
          <p:cNvPr id="37" name="Freeform 37"/>
          <p:cNvSpPr/>
          <p:nvPr/>
        </p:nvSpPr>
        <p:spPr>
          <a:xfrm>
            <a:off x="1838732" y="8082582"/>
            <a:ext cx="5131370" cy="1931261"/>
          </a:xfrm>
          <a:custGeom>
            <a:avLst/>
            <a:gdLst/>
            <a:ahLst/>
            <a:cxnLst/>
            <a:rect l="l" t="t" r="r" b="b"/>
            <a:pathLst>
              <a:path w="5131370" h="1931261">
                <a:moveTo>
                  <a:pt x="0" y="0"/>
                </a:moveTo>
                <a:lnTo>
                  <a:pt x="5131370" y="0"/>
                </a:lnTo>
                <a:lnTo>
                  <a:pt x="5131370" y="1931261"/>
                </a:lnTo>
                <a:lnTo>
                  <a:pt x="0" y="193126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D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06333" y="4342989"/>
            <a:ext cx="19500667" cy="5354087"/>
          </a:xfrm>
          <a:custGeom>
            <a:avLst/>
            <a:gdLst/>
            <a:ahLst/>
            <a:cxnLst/>
            <a:rect l="l" t="t" r="r" b="b"/>
            <a:pathLst>
              <a:path w="19500667" h="5354087">
                <a:moveTo>
                  <a:pt x="0" y="0"/>
                </a:moveTo>
                <a:lnTo>
                  <a:pt x="19500666" y="0"/>
                </a:lnTo>
                <a:lnTo>
                  <a:pt x="19500666" y="5354088"/>
                </a:lnTo>
                <a:lnTo>
                  <a:pt x="0" y="5354088"/>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txBody>
          <a:bodyPr/>
          <a:lstStyle/>
          <a:p>
            <a:endParaRPr lang="en-DE"/>
          </a:p>
        </p:txBody>
      </p:sp>
      <p:sp>
        <p:nvSpPr>
          <p:cNvPr id="3" name="Freeform 3"/>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DE"/>
          </a:p>
        </p:txBody>
      </p:sp>
      <p:grpSp>
        <p:nvGrpSpPr>
          <p:cNvPr id="4" name="Group 4"/>
          <p:cNvGrpSpPr/>
          <p:nvPr/>
        </p:nvGrpSpPr>
        <p:grpSpPr>
          <a:xfrm>
            <a:off x="1028700" y="1624115"/>
            <a:ext cx="16230600" cy="7634185"/>
            <a:chOff x="0" y="0"/>
            <a:chExt cx="4274726" cy="2010650"/>
          </a:xfrm>
        </p:grpSpPr>
        <p:sp>
          <p:nvSpPr>
            <p:cNvPr id="5" name="Freeform 5"/>
            <p:cNvSpPr/>
            <p:nvPr/>
          </p:nvSpPr>
          <p:spPr>
            <a:xfrm>
              <a:off x="0" y="0"/>
              <a:ext cx="4274726" cy="2010650"/>
            </a:xfrm>
            <a:custGeom>
              <a:avLst/>
              <a:gdLst/>
              <a:ahLst/>
              <a:cxnLst/>
              <a:rect l="l" t="t" r="r" b="b"/>
              <a:pathLst>
                <a:path w="4274726" h="2010650">
                  <a:moveTo>
                    <a:pt x="12879" y="0"/>
                  </a:moveTo>
                  <a:lnTo>
                    <a:pt x="4261847" y="0"/>
                  </a:lnTo>
                  <a:cubicBezTo>
                    <a:pt x="4268960" y="0"/>
                    <a:pt x="4274726" y="5766"/>
                    <a:pt x="4274726" y="12879"/>
                  </a:cubicBezTo>
                  <a:lnTo>
                    <a:pt x="4274726" y="1997771"/>
                  </a:lnTo>
                  <a:cubicBezTo>
                    <a:pt x="4274726" y="2001186"/>
                    <a:pt x="4273369" y="2004462"/>
                    <a:pt x="4270954" y="2006878"/>
                  </a:cubicBezTo>
                  <a:cubicBezTo>
                    <a:pt x="4268539" y="2009293"/>
                    <a:pt x="4265263" y="2010650"/>
                    <a:pt x="4261847" y="2010650"/>
                  </a:cubicBezTo>
                  <a:lnTo>
                    <a:pt x="12879" y="2010650"/>
                  </a:lnTo>
                  <a:cubicBezTo>
                    <a:pt x="5766" y="2010650"/>
                    <a:pt x="0" y="2004883"/>
                    <a:pt x="0" y="1997771"/>
                  </a:cubicBezTo>
                  <a:lnTo>
                    <a:pt x="0" y="12879"/>
                  </a:lnTo>
                  <a:cubicBezTo>
                    <a:pt x="0" y="5766"/>
                    <a:pt x="5766" y="0"/>
                    <a:pt x="12879" y="0"/>
                  </a:cubicBezTo>
                  <a:close/>
                </a:path>
              </a:pathLst>
            </a:custGeom>
            <a:solidFill>
              <a:srgbClr val="FFFFFF"/>
            </a:solidFill>
          </p:spPr>
          <p:txBody>
            <a:bodyPr/>
            <a:lstStyle/>
            <a:p>
              <a:endParaRPr lang="en-DE"/>
            </a:p>
          </p:txBody>
        </p:sp>
        <p:sp>
          <p:nvSpPr>
            <p:cNvPr id="6" name="TextBox 6"/>
            <p:cNvSpPr txBox="1"/>
            <p:nvPr/>
          </p:nvSpPr>
          <p:spPr>
            <a:xfrm>
              <a:off x="0" y="-38100"/>
              <a:ext cx="4274726" cy="204875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DE"/>
          </a:p>
        </p:txBody>
      </p:sp>
      <p:grpSp>
        <p:nvGrpSpPr>
          <p:cNvPr id="8" name="Group 8"/>
          <p:cNvGrpSpPr/>
          <p:nvPr/>
        </p:nvGrpSpPr>
        <p:grpSpPr>
          <a:xfrm>
            <a:off x="-1562147" y="9258300"/>
            <a:ext cx="21205933" cy="8243149"/>
            <a:chOff x="0" y="0"/>
            <a:chExt cx="5585102" cy="2171035"/>
          </a:xfrm>
        </p:grpSpPr>
        <p:sp>
          <p:nvSpPr>
            <p:cNvPr id="9" name="Freeform 9"/>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txBody>
            <a:bodyPr/>
            <a:lstStyle/>
            <a:p>
              <a:endParaRPr lang="en-DE"/>
            </a:p>
          </p:txBody>
        </p:sp>
        <p:sp>
          <p:nvSpPr>
            <p:cNvPr id="10" name="TextBox 10"/>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1" name="Group 11"/>
          <p:cNvGrpSpPr/>
          <p:nvPr/>
        </p:nvGrpSpPr>
        <p:grpSpPr>
          <a:xfrm>
            <a:off x="553409" y="9739067"/>
            <a:ext cx="17181183" cy="110498"/>
            <a:chOff x="0" y="0"/>
            <a:chExt cx="22908243" cy="147331"/>
          </a:xfrm>
        </p:grpSpPr>
        <p:grpSp>
          <p:nvGrpSpPr>
            <p:cNvPr id="12" name="Group 12"/>
            <p:cNvGrpSpPr/>
            <p:nvPr/>
          </p:nvGrpSpPr>
          <p:grpSpPr>
            <a:xfrm>
              <a:off x="0"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96871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793723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0594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5847313"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9816024"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0" name="Freeform 30"/>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1" name="TextBox 31"/>
          <p:cNvSpPr txBox="1"/>
          <p:nvPr/>
        </p:nvSpPr>
        <p:spPr>
          <a:xfrm>
            <a:off x="4133759" y="2639262"/>
            <a:ext cx="12250001" cy="533400"/>
          </a:xfrm>
          <a:prstGeom prst="rect">
            <a:avLst/>
          </a:prstGeom>
        </p:spPr>
        <p:txBody>
          <a:bodyPr lIns="0" tIns="0" rIns="0" bIns="0" rtlCol="0" anchor="t">
            <a:spAutoFit/>
          </a:bodyPr>
          <a:lstStyle/>
          <a:p>
            <a:pPr algn="l">
              <a:lnSpc>
                <a:spcPts val="4200"/>
              </a:lnSpc>
              <a:spcBef>
                <a:spcPct val="0"/>
              </a:spcBef>
            </a:pPr>
            <a:r>
              <a:rPr lang="en-US" sz="3000">
                <a:solidFill>
                  <a:srgbClr val="202124"/>
                </a:solidFill>
                <a:latin typeface="Public Sans"/>
                <a:ea typeface="Public Sans"/>
                <a:cs typeface="Public Sans"/>
                <a:sym typeface="Public Sans"/>
              </a:rPr>
              <a:t>.</a:t>
            </a:r>
          </a:p>
        </p:txBody>
      </p:sp>
      <p:sp>
        <p:nvSpPr>
          <p:cNvPr id="32" name="Freeform 32"/>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DE"/>
          </a:p>
        </p:txBody>
      </p:sp>
      <p:sp>
        <p:nvSpPr>
          <p:cNvPr id="33" name="Freeform 33"/>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DE"/>
          </a:p>
        </p:txBody>
      </p:sp>
      <p:sp>
        <p:nvSpPr>
          <p:cNvPr id="35" name="Freeform 35"/>
          <p:cNvSpPr/>
          <p:nvPr/>
        </p:nvSpPr>
        <p:spPr>
          <a:xfrm rot="-2459989">
            <a:off x="16678542"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DE"/>
          </a:p>
        </p:txBody>
      </p:sp>
      <p:sp>
        <p:nvSpPr>
          <p:cNvPr id="36" name="Freeform 36"/>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8" name="Freeform 38"/>
          <p:cNvSpPr/>
          <p:nvPr/>
        </p:nvSpPr>
        <p:spPr>
          <a:xfrm>
            <a:off x="386169" y="8108804"/>
            <a:ext cx="5131370" cy="1931261"/>
          </a:xfrm>
          <a:custGeom>
            <a:avLst/>
            <a:gdLst/>
            <a:ahLst/>
            <a:cxnLst/>
            <a:rect l="l" t="t" r="r" b="b"/>
            <a:pathLst>
              <a:path w="5131370" h="1931261">
                <a:moveTo>
                  <a:pt x="0" y="0"/>
                </a:moveTo>
                <a:lnTo>
                  <a:pt x="5131370" y="0"/>
                </a:lnTo>
                <a:lnTo>
                  <a:pt x="5131370" y="1931262"/>
                </a:lnTo>
                <a:lnTo>
                  <a:pt x="0" y="193126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DE"/>
          </a:p>
        </p:txBody>
      </p:sp>
      <p:graphicFrame>
        <p:nvGraphicFramePr>
          <p:cNvPr id="39" name="Table 38">
            <a:extLst>
              <a:ext uri="{FF2B5EF4-FFF2-40B4-BE49-F238E27FC236}">
                <a16:creationId xmlns:a16="http://schemas.microsoft.com/office/drawing/2014/main" id="{37FAD310-4810-48C3-BB5E-C79956155EDC}"/>
              </a:ext>
            </a:extLst>
          </p:cNvPr>
          <p:cNvGraphicFramePr>
            <a:graphicFrameLocks noGrp="1"/>
          </p:cNvGraphicFramePr>
          <p:nvPr>
            <p:extLst>
              <p:ext uri="{D42A27DB-BD31-4B8C-83A1-F6EECF244321}">
                <p14:modId xmlns:p14="http://schemas.microsoft.com/office/powerpoint/2010/main" val="303259241"/>
              </p:ext>
            </p:extLst>
          </p:nvPr>
        </p:nvGraphicFramePr>
        <p:xfrm>
          <a:off x="4119361" y="3459184"/>
          <a:ext cx="12192000" cy="3655157"/>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2191025562"/>
                    </a:ext>
                  </a:extLst>
                </a:gridCol>
                <a:gridCol w="6096000">
                  <a:extLst>
                    <a:ext uri="{9D8B030D-6E8A-4147-A177-3AD203B41FA5}">
                      <a16:colId xmlns:a16="http://schemas.microsoft.com/office/drawing/2014/main" val="129451764"/>
                    </a:ext>
                  </a:extLst>
                </a:gridCol>
              </a:tblGrid>
              <a:tr h="543435">
                <a:tc>
                  <a:txBody>
                    <a:bodyPr/>
                    <a:lstStyle/>
                    <a:p>
                      <a:r>
                        <a:rPr lang="en-GB" b="1">
                          <a:effectLst/>
                        </a:rPr>
                        <a:t>What Went Well (Good)</a:t>
                      </a:r>
                    </a:p>
                  </a:txBody>
                  <a:tcPr anchor="ctr"/>
                </a:tc>
                <a:tc>
                  <a:txBody>
                    <a:bodyPr/>
                    <a:lstStyle/>
                    <a:p>
                      <a:r>
                        <a:rPr lang="en-GB" b="1">
                          <a:effectLst/>
                        </a:rPr>
                        <a:t>What Didn’t Go Well (Bad)</a:t>
                      </a:r>
                    </a:p>
                  </a:txBody>
                  <a:tcPr anchor="ctr"/>
                </a:tc>
                <a:extLst>
                  <a:ext uri="{0D108BD9-81ED-4DB2-BD59-A6C34878D82A}">
                    <a16:rowId xmlns:a16="http://schemas.microsoft.com/office/drawing/2014/main" val="1477935697"/>
                  </a:ext>
                </a:extLst>
              </a:tr>
              <a:tr h="543435">
                <a:tc>
                  <a:txBody>
                    <a:bodyPr/>
                    <a:lstStyle/>
                    <a:p>
                      <a:r>
                        <a:rPr lang="en-GB">
                          <a:effectLst/>
                        </a:rPr>
                        <a:t>Team collaborated effectively in Jira &amp; GitHub</a:t>
                      </a:r>
                    </a:p>
                  </a:txBody>
                  <a:tcPr anchor="ctr"/>
                </a:tc>
                <a:tc>
                  <a:txBody>
                    <a:bodyPr/>
                    <a:lstStyle/>
                    <a:p>
                      <a:r>
                        <a:rPr lang="en-GB">
                          <a:effectLst/>
                        </a:rPr>
                        <a:t>Minor confusion with branch naming</a:t>
                      </a:r>
                    </a:p>
                  </a:txBody>
                  <a:tcPr anchor="ctr"/>
                </a:tc>
                <a:extLst>
                  <a:ext uri="{0D108BD9-81ED-4DB2-BD59-A6C34878D82A}">
                    <a16:rowId xmlns:a16="http://schemas.microsoft.com/office/drawing/2014/main" val="2814811807"/>
                  </a:ext>
                </a:extLst>
              </a:tr>
              <a:tr h="543435">
                <a:tc>
                  <a:txBody>
                    <a:bodyPr/>
                    <a:lstStyle/>
                    <a:p>
                      <a:r>
                        <a:rPr lang="en-GB">
                          <a:effectLst/>
                        </a:rPr>
                        <a:t>Roles were clearly understood</a:t>
                      </a:r>
                    </a:p>
                  </a:txBody>
                  <a:tcPr anchor="ctr"/>
                </a:tc>
                <a:tc>
                  <a:txBody>
                    <a:bodyPr/>
                    <a:lstStyle/>
                    <a:p>
                      <a:r>
                        <a:rPr lang="en-GB">
                          <a:effectLst/>
                        </a:rPr>
                        <a:t>Some of us were unfamiliar with Jira navigation</a:t>
                      </a:r>
                    </a:p>
                  </a:txBody>
                  <a:tcPr anchor="ctr"/>
                </a:tc>
                <a:extLst>
                  <a:ext uri="{0D108BD9-81ED-4DB2-BD59-A6C34878D82A}">
                    <a16:rowId xmlns:a16="http://schemas.microsoft.com/office/drawing/2014/main" val="2696880474"/>
                  </a:ext>
                </a:extLst>
              </a:tr>
              <a:tr h="543435">
                <a:tc>
                  <a:txBody>
                    <a:bodyPr/>
                    <a:lstStyle/>
                    <a:p>
                      <a:r>
                        <a:rPr lang="en-GB">
                          <a:effectLst/>
                        </a:rPr>
                        <a:t>Requirements were documented early</a:t>
                      </a:r>
                    </a:p>
                  </a:txBody>
                  <a:tcPr anchor="ctr"/>
                </a:tc>
                <a:tc>
                  <a:txBody>
                    <a:bodyPr/>
                    <a:lstStyle/>
                    <a:p>
                      <a:r>
                        <a:rPr lang="en-GB">
                          <a:effectLst/>
                        </a:rPr>
                        <a:t>One user story remained incomplete</a:t>
                      </a:r>
                    </a:p>
                  </a:txBody>
                  <a:tcPr anchor="ctr"/>
                </a:tc>
                <a:extLst>
                  <a:ext uri="{0D108BD9-81ED-4DB2-BD59-A6C34878D82A}">
                    <a16:rowId xmlns:a16="http://schemas.microsoft.com/office/drawing/2014/main" val="2709747423"/>
                  </a:ext>
                </a:extLst>
              </a:tr>
              <a:tr h="937982">
                <a:tc>
                  <a:txBody>
                    <a:bodyPr/>
                    <a:lstStyle/>
                    <a:p>
                      <a:r>
                        <a:rPr lang="en-GB">
                          <a:effectLst/>
                        </a:rPr>
                        <a:t>GitHub integration successful, And rules has been set in repository</a:t>
                      </a:r>
                    </a:p>
                  </a:txBody>
                  <a:tcPr anchor="ctr"/>
                </a:tc>
                <a:tc>
                  <a:txBody>
                    <a:bodyPr/>
                    <a:lstStyle/>
                    <a:p>
                      <a:r>
                        <a:rPr lang="en-GB">
                          <a:effectLst/>
                        </a:rPr>
                        <a:t>Project Template Setup</a:t>
                      </a:r>
                    </a:p>
                  </a:txBody>
                  <a:tcPr anchor="ctr"/>
                </a:tc>
                <a:extLst>
                  <a:ext uri="{0D108BD9-81ED-4DB2-BD59-A6C34878D82A}">
                    <a16:rowId xmlns:a16="http://schemas.microsoft.com/office/drawing/2014/main" val="2482530637"/>
                  </a:ext>
                </a:extLst>
              </a:tr>
              <a:tr h="543435">
                <a:tc>
                  <a:txBody>
                    <a:bodyPr/>
                    <a:lstStyle/>
                    <a:p>
                      <a:r>
                        <a:rPr lang="en-GB" dirty="0">
                          <a:effectLst/>
                        </a:rPr>
                        <a:t>All setup tasks finished on time</a:t>
                      </a:r>
                    </a:p>
                  </a:txBody>
                  <a:tcPr anchor="ctr"/>
                </a:tc>
                <a:tc>
                  <a:txBody>
                    <a:bodyPr/>
                    <a:lstStyle/>
                    <a:p>
                      <a:r>
                        <a:rPr lang="en-DE" dirty="0">
                          <a:effectLst/>
                        </a:rPr>
                        <a:t>—</a:t>
                      </a:r>
                    </a:p>
                  </a:txBody>
                  <a:tcPr anchor="ctr"/>
                </a:tc>
                <a:extLst>
                  <a:ext uri="{0D108BD9-81ED-4DB2-BD59-A6C34878D82A}">
                    <a16:rowId xmlns:a16="http://schemas.microsoft.com/office/drawing/2014/main" val="294819244"/>
                  </a:ext>
                </a:extLst>
              </a:tr>
            </a:tbl>
          </a:graphicData>
        </a:graphic>
      </p:graphicFrame>
      <p:sp>
        <p:nvSpPr>
          <p:cNvPr id="40" name="TextBox 34">
            <a:extLst>
              <a:ext uri="{FF2B5EF4-FFF2-40B4-BE49-F238E27FC236}">
                <a16:creationId xmlns:a16="http://schemas.microsoft.com/office/drawing/2014/main" id="{3DEFEAD4-0F97-C4F6-5C4A-EC19FA0A6AE6}"/>
              </a:ext>
            </a:extLst>
          </p:cNvPr>
          <p:cNvSpPr txBox="1"/>
          <p:nvPr/>
        </p:nvSpPr>
        <p:spPr>
          <a:xfrm>
            <a:off x="2667000" y="1257300"/>
            <a:ext cx="14452433" cy="1029769"/>
          </a:xfrm>
          <a:prstGeom prst="rect">
            <a:avLst/>
          </a:prstGeom>
        </p:spPr>
        <p:txBody>
          <a:bodyPr wrap="square" lIns="0" tIns="0" rIns="0" bIns="0" rtlCol="0" anchor="t">
            <a:spAutoFit/>
          </a:bodyPr>
          <a:lstStyle/>
          <a:p>
            <a:pPr marL="0" lvl="0" indent="0" algn="l">
              <a:lnSpc>
                <a:spcPts val="7516"/>
              </a:lnSpc>
              <a:spcBef>
                <a:spcPct val="0"/>
              </a:spcBef>
            </a:pPr>
            <a:r>
              <a:rPr lang="en-US" sz="10021" dirty="0">
                <a:solidFill>
                  <a:srgbClr val="F9C324"/>
                </a:solidFill>
                <a:latin typeface="Cubao"/>
                <a:ea typeface="Cubao"/>
                <a:cs typeface="Cubao"/>
                <a:sym typeface="Cubao"/>
              </a:rPr>
              <a:t>SPRINT RETROSPECTIVE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06333" y="4342989"/>
            <a:ext cx="19500667" cy="5354087"/>
          </a:xfrm>
          <a:custGeom>
            <a:avLst/>
            <a:gdLst/>
            <a:ahLst/>
            <a:cxnLst/>
            <a:rect l="l" t="t" r="r" b="b"/>
            <a:pathLst>
              <a:path w="19500667" h="5354087">
                <a:moveTo>
                  <a:pt x="0" y="0"/>
                </a:moveTo>
                <a:lnTo>
                  <a:pt x="19500666" y="0"/>
                </a:lnTo>
                <a:lnTo>
                  <a:pt x="19500666" y="5354088"/>
                </a:lnTo>
                <a:lnTo>
                  <a:pt x="0" y="5354088"/>
                </a:lnTo>
                <a:lnTo>
                  <a:pt x="0" y="0"/>
                </a:lnTo>
                <a:close/>
              </a:path>
            </a:pathLst>
          </a:custGeom>
          <a:blipFill>
            <a:blip r:embed="rId2">
              <a:alphaModFix amt="54000"/>
              <a:extLst>
                <a:ext uri="{96DAC541-7B7A-43D3-8B79-37D633B846F1}">
                  <asvg:svgBlip xmlns:asvg="http://schemas.microsoft.com/office/drawing/2016/SVG/main" r:embed="rId3"/>
                </a:ext>
              </a:extLst>
            </a:blip>
            <a:stretch>
              <a:fillRect/>
            </a:stretch>
          </a:blipFill>
        </p:spPr>
        <p:txBody>
          <a:bodyPr/>
          <a:lstStyle/>
          <a:p>
            <a:endParaRPr lang="en-DE"/>
          </a:p>
        </p:txBody>
      </p:sp>
      <p:sp>
        <p:nvSpPr>
          <p:cNvPr id="3" name="Freeform 3"/>
          <p:cNvSpPr/>
          <p:nvPr/>
        </p:nvSpPr>
        <p:spPr>
          <a:xfrm>
            <a:off x="12166260" y="-410559"/>
            <a:ext cx="4424434" cy="2501816"/>
          </a:xfrm>
          <a:custGeom>
            <a:avLst/>
            <a:gdLst/>
            <a:ahLst/>
            <a:cxnLst/>
            <a:rect l="l" t="t" r="r" b="b"/>
            <a:pathLst>
              <a:path w="4424434" h="2501816">
                <a:moveTo>
                  <a:pt x="0" y="0"/>
                </a:moveTo>
                <a:lnTo>
                  <a:pt x="4424435" y="0"/>
                </a:lnTo>
                <a:lnTo>
                  <a:pt x="4424435" y="2501817"/>
                </a:lnTo>
                <a:lnTo>
                  <a:pt x="0" y="2501817"/>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DE"/>
          </a:p>
        </p:txBody>
      </p:sp>
      <p:grpSp>
        <p:nvGrpSpPr>
          <p:cNvPr id="4" name="Group 4"/>
          <p:cNvGrpSpPr/>
          <p:nvPr/>
        </p:nvGrpSpPr>
        <p:grpSpPr>
          <a:xfrm>
            <a:off x="1028700" y="1624115"/>
            <a:ext cx="16230600" cy="7634185"/>
            <a:chOff x="0" y="0"/>
            <a:chExt cx="4274726" cy="2010650"/>
          </a:xfrm>
        </p:grpSpPr>
        <p:sp>
          <p:nvSpPr>
            <p:cNvPr id="5" name="Freeform 5"/>
            <p:cNvSpPr/>
            <p:nvPr/>
          </p:nvSpPr>
          <p:spPr>
            <a:xfrm>
              <a:off x="0" y="0"/>
              <a:ext cx="4274726" cy="2010650"/>
            </a:xfrm>
            <a:custGeom>
              <a:avLst/>
              <a:gdLst/>
              <a:ahLst/>
              <a:cxnLst/>
              <a:rect l="l" t="t" r="r" b="b"/>
              <a:pathLst>
                <a:path w="4274726" h="2010650">
                  <a:moveTo>
                    <a:pt x="12879" y="0"/>
                  </a:moveTo>
                  <a:lnTo>
                    <a:pt x="4261847" y="0"/>
                  </a:lnTo>
                  <a:cubicBezTo>
                    <a:pt x="4268960" y="0"/>
                    <a:pt x="4274726" y="5766"/>
                    <a:pt x="4274726" y="12879"/>
                  </a:cubicBezTo>
                  <a:lnTo>
                    <a:pt x="4274726" y="1997771"/>
                  </a:lnTo>
                  <a:cubicBezTo>
                    <a:pt x="4274726" y="2001186"/>
                    <a:pt x="4273369" y="2004462"/>
                    <a:pt x="4270954" y="2006878"/>
                  </a:cubicBezTo>
                  <a:cubicBezTo>
                    <a:pt x="4268539" y="2009293"/>
                    <a:pt x="4265263" y="2010650"/>
                    <a:pt x="4261847" y="2010650"/>
                  </a:cubicBezTo>
                  <a:lnTo>
                    <a:pt x="12879" y="2010650"/>
                  </a:lnTo>
                  <a:cubicBezTo>
                    <a:pt x="5766" y="2010650"/>
                    <a:pt x="0" y="2004883"/>
                    <a:pt x="0" y="1997771"/>
                  </a:cubicBezTo>
                  <a:lnTo>
                    <a:pt x="0" y="12879"/>
                  </a:lnTo>
                  <a:cubicBezTo>
                    <a:pt x="0" y="5766"/>
                    <a:pt x="5766" y="0"/>
                    <a:pt x="12879" y="0"/>
                  </a:cubicBezTo>
                  <a:close/>
                </a:path>
              </a:pathLst>
            </a:custGeom>
            <a:solidFill>
              <a:srgbClr val="FFFFFF"/>
            </a:solidFill>
          </p:spPr>
          <p:txBody>
            <a:bodyPr/>
            <a:lstStyle/>
            <a:p>
              <a:endParaRPr lang="en-DE"/>
            </a:p>
          </p:txBody>
        </p:sp>
        <p:sp>
          <p:nvSpPr>
            <p:cNvPr id="6" name="TextBox 6"/>
            <p:cNvSpPr txBox="1"/>
            <p:nvPr/>
          </p:nvSpPr>
          <p:spPr>
            <a:xfrm>
              <a:off x="0" y="-38100"/>
              <a:ext cx="4274726" cy="204875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2011736" y="845640"/>
            <a:ext cx="5613387" cy="8595719"/>
          </a:xfrm>
          <a:custGeom>
            <a:avLst/>
            <a:gdLst/>
            <a:ahLst/>
            <a:cxnLst/>
            <a:rect l="l" t="t" r="r" b="b"/>
            <a:pathLst>
              <a:path w="5613387" h="8595719">
                <a:moveTo>
                  <a:pt x="0" y="0"/>
                </a:moveTo>
                <a:lnTo>
                  <a:pt x="5613387" y="0"/>
                </a:lnTo>
                <a:lnTo>
                  <a:pt x="5613387" y="8595720"/>
                </a:lnTo>
                <a:lnTo>
                  <a:pt x="0" y="859572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DE"/>
          </a:p>
        </p:txBody>
      </p:sp>
      <p:grpSp>
        <p:nvGrpSpPr>
          <p:cNvPr id="8" name="Group 8"/>
          <p:cNvGrpSpPr/>
          <p:nvPr/>
        </p:nvGrpSpPr>
        <p:grpSpPr>
          <a:xfrm>
            <a:off x="-1562147" y="9258300"/>
            <a:ext cx="21205933" cy="8243149"/>
            <a:chOff x="0" y="0"/>
            <a:chExt cx="5585102" cy="2171035"/>
          </a:xfrm>
        </p:grpSpPr>
        <p:sp>
          <p:nvSpPr>
            <p:cNvPr id="9" name="Freeform 9"/>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txBody>
            <a:bodyPr/>
            <a:lstStyle/>
            <a:p>
              <a:endParaRPr lang="en-DE"/>
            </a:p>
          </p:txBody>
        </p:sp>
        <p:sp>
          <p:nvSpPr>
            <p:cNvPr id="10" name="TextBox 10"/>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grpSp>
        <p:nvGrpSpPr>
          <p:cNvPr id="11" name="Group 11"/>
          <p:cNvGrpSpPr/>
          <p:nvPr/>
        </p:nvGrpSpPr>
        <p:grpSpPr>
          <a:xfrm>
            <a:off x="553409" y="9739067"/>
            <a:ext cx="17181183" cy="110498"/>
            <a:chOff x="0" y="0"/>
            <a:chExt cx="22908243" cy="147331"/>
          </a:xfrm>
        </p:grpSpPr>
        <p:grpSp>
          <p:nvGrpSpPr>
            <p:cNvPr id="12" name="Group 12"/>
            <p:cNvGrpSpPr/>
            <p:nvPr/>
          </p:nvGrpSpPr>
          <p:grpSpPr>
            <a:xfrm>
              <a:off x="0"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96871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793723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905941"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5847313"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9816024" y="0"/>
              <a:ext cx="3092220" cy="147331"/>
              <a:chOff x="0" y="0"/>
              <a:chExt cx="610809" cy="29102"/>
            </a:xfrm>
          </p:grpSpPr>
          <p:sp>
            <p:nvSpPr>
              <p:cNvPr id="28" name="Freeform 28"/>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9" name="TextBox 29"/>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30" name="Freeform 30"/>
          <p:cNvSpPr/>
          <p:nvPr/>
        </p:nvSpPr>
        <p:spPr>
          <a:xfrm rot="1574474">
            <a:off x="2411870" y="686300"/>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2" name="Freeform 32"/>
          <p:cNvSpPr/>
          <p:nvPr/>
        </p:nvSpPr>
        <p:spPr>
          <a:xfrm>
            <a:off x="-269127" y="8395327"/>
            <a:ext cx="3870777" cy="869522"/>
          </a:xfrm>
          <a:custGeom>
            <a:avLst/>
            <a:gdLst/>
            <a:ahLst/>
            <a:cxnLst/>
            <a:rect l="l" t="t" r="r" b="b"/>
            <a:pathLst>
              <a:path w="3870777" h="869522">
                <a:moveTo>
                  <a:pt x="0" y="0"/>
                </a:moveTo>
                <a:lnTo>
                  <a:pt x="3870778" y="0"/>
                </a:lnTo>
                <a:lnTo>
                  <a:pt x="3870778" y="869523"/>
                </a:lnTo>
                <a:lnTo>
                  <a:pt x="0" y="8695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DE"/>
          </a:p>
        </p:txBody>
      </p:sp>
      <p:sp>
        <p:nvSpPr>
          <p:cNvPr id="33" name="Freeform 33"/>
          <p:cNvSpPr/>
          <p:nvPr/>
        </p:nvSpPr>
        <p:spPr>
          <a:xfrm>
            <a:off x="1838732" y="8395327"/>
            <a:ext cx="3870777" cy="869522"/>
          </a:xfrm>
          <a:custGeom>
            <a:avLst/>
            <a:gdLst/>
            <a:ahLst/>
            <a:cxnLst/>
            <a:rect l="l" t="t" r="r" b="b"/>
            <a:pathLst>
              <a:path w="3870777" h="869522">
                <a:moveTo>
                  <a:pt x="0" y="0"/>
                </a:moveTo>
                <a:lnTo>
                  <a:pt x="3870777" y="0"/>
                </a:lnTo>
                <a:lnTo>
                  <a:pt x="3870777" y="869523"/>
                </a:lnTo>
                <a:lnTo>
                  <a:pt x="0" y="86952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DE"/>
          </a:p>
        </p:txBody>
      </p:sp>
      <p:sp>
        <p:nvSpPr>
          <p:cNvPr id="34" name="TextBox 34"/>
          <p:cNvSpPr txBox="1"/>
          <p:nvPr/>
        </p:nvSpPr>
        <p:spPr>
          <a:xfrm>
            <a:off x="2667000" y="1257300"/>
            <a:ext cx="14452433" cy="1029769"/>
          </a:xfrm>
          <a:prstGeom prst="rect">
            <a:avLst/>
          </a:prstGeom>
        </p:spPr>
        <p:txBody>
          <a:bodyPr wrap="square" lIns="0" tIns="0" rIns="0" bIns="0" rtlCol="0" anchor="t">
            <a:spAutoFit/>
          </a:bodyPr>
          <a:lstStyle/>
          <a:p>
            <a:pPr marL="0" lvl="0" indent="0" algn="l">
              <a:lnSpc>
                <a:spcPts val="7516"/>
              </a:lnSpc>
              <a:spcBef>
                <a:spcPct val="0"/>
              </a:spcBef>
            </a:pPr>
            <a:r>
              <a:rPr lang="en-US" sz="10021" dirty="0">
                <a:solidFill>
                  <a:srgbClr val="F9C324"/>
                </a:solidFill>
                <a:latin typeface="Cubao"/>
                <a:ea typeface="Cubao"/>
                <a:cs typeface="Cubao"/>
                <a:sym typeface="Cubao"/>
              </a:rPr>
              <a:t>SPRINT RETROSPECTIVE</a:t>
            </a:r>
          </a:p>
        </p:txBody>
      </p:sp>
      <p:sp>
        <p:nvSpPr>
          <p:cNvPr id="35" name="Freeform 35"/>
          <p:cNvSpPr/>
          <p:nvPr/>
        </p:nvSpPr>
        <p:spPr>
          <a:xfrm rot="-2459989">
            <a:off x="16678542" y="2347467"/>
            <a:ext cx="808429" cy="1141985"/>
          </a:xfrm>
          <a:custGeom>
            <a:avLst/>
            <a:gdLst/>
            <a:ahLst/>
            <a:cxnLst/>
            <a:rect l="l" t="t" r="r" b="b"/>
            <a:pathLst>
              <a:path w="808429" h="1141985">
                <a:moveTo>
                  <a:pt x="0" y="0"/>
                </a:moveTo>
                <a:lnTo>
                  <a:pt x="808429" y="0"/>
                </a:lnTo>
                <a:lnTo>
                  <a:pt x="808429" y="1141985"/>
                </a:lnTo>
                <a:lnTo>
                  <a:pt x="0" y="114198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DE"/>
          </a:p>
        </p:txBody>
      </p:sp>
      <p:sp>
        <p:nvSpPr>
          <p:cNvPr id="36" name="Freeform 36"/>
          <p:cNvSpPr/>
          <p:nvPr/>
        </p:nvSpPr>
        <p:spPr>
          <a:xfrm rot="1574474">
            <a:off x="17513181" y="5235068"/>
            <a:ext cx="442821" cy="421787"/>
          </a:xfrm>
          <a:custGeom>
            <a:avLst/>
            <a:gdLst/>
            <a:ahLst/>
            <a:cxnLst/>
            <a:rect l="l" t="t" r="r" b="b"/>
            <a:pathLst>
              <a:path w="442821" h="421787">
                <a:moveTo>
                  <a:pt x="0" y="0"/>
                </a:moveTo>
                <a:lnTo>
                  <a:pt x="442821" y="0"/>
                </a:lnTo>
                <a:lnTo>
                  <a:pt x="442821" y="421787"/>
                </a:lnTo>
                <a:lnTo>
                  <a:pt x="0" y="4217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DE"/>
          </a:p>
        </p:txBody>
      </p:sp>
      <p:sp>
        <p:nvSpPr>
          <p:cNvPr id="38" name="Freeform 38"/>
          <p:cNvSpPr/>
          <p:nvPr/>
        </p:nvSpPr>
        <p:spPr>
          <a:xfrm>
            <a:off x="-634908" y="8167688"/>
            <a:ext cx="5131370" cy="1931261"/>
          </a:xfrm>
          <a:custGeom>
            <a:avLst/>
            <a:gdLst/>
            <a:ahLst/>
            <a:cxnLst/>
            <a:rect l="l" t="t" r="r" b="b"/>
            <a:pathLst>
              <a:path w="5131370" h="1931261">
                <a:moveTo>
                  <a:pt x="0" y="0"/>
                </a:moveTo>
                <a:lnTo>
                  <a:pt x="5131370" y="0"/>
                </a:lnTo>
                <a:lnTo>
                  <a:pt x="5131370" y="1931261"/>
                </a:lnTo>
                <a:lnTo>
                  <a:pt x="0" y="193126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DE"/>
          </a:p>
        </p:txBody>
      </p:sp>
      <p:graphicFrame>
        <p:nvGraphicFramePr>
          <p:cNvPr id="39" name="Table 38">
            <a:extLst>
              <a:ext uri="{FF2B5EF4-FFF2-40B4-BE49-F238E27FC236}">
                <a16:creationId xmlns:a16="http://schemas.microsoft.com/office/drawing/2014/main" id="{08F21F52-7409-1329-5578-6B10638B5F92}"/>
              </a:ext>
            </a:extLst>
          </p:cNvPr>
          <p:cNvGraphicFramePr>
            <a:graphicFrameLocks noGrp="1"/>
          </p:cNvGraphicFramePr>
          <p:nvPr>
            <p:extLst>
              <p:ext uri="{D42A27DB-BD31-4B8C-83A1-F6EECF244321}">
                <p14:modId xmlns:p14="http://schemas.microsoft.com/office/powerpoint/2010/main" val="1448737882"/>
              </p:ext>
            </p:extLst>
          </p:nvPr>
        </p:nvGraphicFramePr>
        <p:xfrm>
          <a:off x="4191000" y="3400300"/>
          <a:ext cx="12192000" cy="38247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005177630"/>
                    </a:ext>
                  </a:extLst>
                </a:gridCol>
                <a:gridCol w="4064000">
                  <a:extLst>
                    <a:ext uri="{9D8B030D-6E8A-4147-A177-3AD203B41FA5}">
                      <a16:colId xmlns:a16="http://schemas.microsoft.com/office/drawing/2014/main" val="3530689949"/>
                    </a:ext>
                  </a:extLst>
                </a:gridCol>
                <a:gridCol w="4064000">
                  <a:extLst>
                    <a:ext uri="{9D8B030D-6E8A-4147-A177-3AD203B41FA5}">
                      <a16:colId xmlns:a16="http://schemas.microsoft.com/office/drawing/2014/main" val="1156565631"/>
                    </a:ext>
                  </a:extLst>
                </a:gridCol>
              </a:tblGrid>
              <a:tr h="617706">
                <a:tc>
                  <a:txBody>
                    <a:bodyPr/>
                    <a:lstStyle/>
                    <a:p>
                      <a:r>
                        <a:rPr lang="en-GB" b="1">
                          <a:effectLst/>
                        </a:rPr>
                        <a:t>Start</a:t>
                      </a:r>
                    </a:p>
                  </a:txBody>
                  <a:tcPr anchor="ctr"/>
                </a:tc>
                <a:tc>
                  <a:txBody>
                    <a:bodyPr/>
                    <a:lstStyle/>
                    <a:p>
                      <a:r>
                        <a:rPr lang="en-GB" b="1">
                          <a:effectLst/>
                        </a:rPr>
                        <a:t>Stop</a:t>
                      </a:r>
                    </a:p>
                  </a:txBody>
                  <a:tcPr anchor="ctr"/>
                </a:tc>
                <a:tc>
                  <a:txBody>
                    <a:bodyPr/>
                    <a:lstStyle/>
                    <a:p>
                      <a:r>
                        <a:rPr lang="en-GB" b="1">
                          <a:effectLst/>
                        </a:rPr>
                        <a:t>Continue</a:t>
                      </a:r>
                    </a:p>
                  </a:txBody>
                  <a:tcPr anchor="ctr"/>
                </a:tc>
                <a:extLst>
                  <a:ext uri="{0D108BD9-81ED-4DB2-BD59-A6C34878D82A}">
                    <a16:rowId xmlns:a16="http://schemas.microsoft.com/office/drawing/2014/main" val="682137314"/>
                  </a:ext>
                </a:extLst>
              </a:tr>
              <a:tr h="1066177">
                <a:tc>
                  <a:txBody>
                    <a:bodyPr/>
                    <a:lstStyle/>
                    <a:p>
                      <a:r>
                        <a:rPr lang="en-GB">
                          <a:effectLst/>
                        </a:rPr>
                        <a:t>Make simple drawings or designs of the screens</a:t>
                      </a:r>
                    </a:p>
                  </a:txBody>
                  <a:tcPr anchor="ctr"/>
                </a:tc>
                <a:tc>
                  <a:txBody>
                    <a:bodyPr/>
                    <a:lstStyle/>
                    <a:p>
                      <a:r>
                        <a:rPr lang="en-GB">
                          <a:effectLst/>
                        </a:rPr>
                        <a:t>Stop pushing directly to main</a:t>
                      </a:r>
                    </a:p>
                  </a:txBody>
                  <a:tcPr anchor="ctr"/>
                </a:tc>
                <a:tc>
                  <a:txBody>
                    <a:bodyPr/>
                    <a:lstStyle/>
                    <a:p>
                      <a:r>
                        <a:rPr lang="en-GB">
                          <a:effectLst/>
                        </a:rPr>
                        <a:t>Continue using feature branches</a:t>
                      </a:r>
                    </a:p>
                  </a:txBody>
                  <a:tcPr anchor="ctr"/>
                </a:tc>
                <a:extLst>
                  <a:ext uri="{0D108BD9-81ED-4DB2-BD59-A6C34878D82A}">
                    <a16:rowId xmlns:a16="http://schemas.microsoft.com/office/drawing/2014/main" val="3119665431"/>
                  </a:ext>
                </a:extLst>
              </a:tr>
              <a:tr h="1523111">
                <a:tc>
                  <a:txBody>
                    <a:bodyPr/>
                    <a:lstStyle/>
                    <a:p>
                      <a:r>
                        <a:rPr lang="en-GB">
                          <a:effectLst/>
                        </a:rPr>
                        <a:t>Clearly describe what the feature must do so the team knows exactly when the work is considered</a:t>
                      </a:r>
                    </a:p>
                  </a:txBody>
                  <a:tcPr anchor="ctr"/>
                </a:tc>
                <a:tc>
                  <a:txBody>
                    <a:bodyPr/>
                    <a:lstStyle/>
                    <a:p>
                      <a:r>
                        <a:rPr lang="en-GB">
                          <a:effectLst/>
                        </a:rPr>
                        <a:t>Stop working without naming conventions</a:t>
                      </a:r>
                    </a:p>
                  </a:txBody>
                  <a:tcPr anchor="ctr"/>
                </a:tc>
                <a:tc>
                  <a:txBody>
                    <a:bodyPr/>
                    <a:lstStyle/>
                    <a:p>
                      <a:r>
                        <a:rPr lang="en-GB">
                          <a:effectLst/>
                        </a:rPr>
                        <a:t>Continue clear documentation in repo &amp; Jira</a:t>
                      </a:r>
                    </a:p>
                  </a:txBody>
                  <a:tcPr anchor="ctr"/>
                </a:tc>
                <a:extLst>
                  <a:ext uri="{0D108BD9-81ED-4DB2-BD59-A6C34878D82A}">
                    <a16:rowId xmlns:a16="http://schemas.microsoft.com/office/drawing/2014/main" val="2648250115"/>
                  </a:ext>
                </a:extLst>
              </a:tr>
              <a:tr h="617706">
                <a:tc>
                  <a:txBody>
                    <a:bodyPr/>
                    <a:lstStyle/>
                    <a:p>
                      <a:r>
                        <a:rPr lang="en-DE">
                          <a:effectLst/>
                        </a:rPr>
                        <a:t>—</a:t>
                      </a:r>
                    </a:p>
                  </a:txBody>
                  <a:tcPr anchor="ctr"/>
                </a:tc>
                <a:tc>
                  <a:txBody>
                    <a:bodyPr/>
                    <a:lstStyle/>
                    <a:p>
                      <a:r>
                        <a:rPr lang="en-DE" dirty="0">
                          <a:effectLst/>
                        </a:rPr>
                        <a:t>—</a:t>
                      </a:r>
                    </a:p>
                  </a:txBody>
                  <a:tcPr anchor="ctr"/>
                </a:tc>
                <a:tc>
                  <a:txBody>
                    <a:bodyPr/>
                    <a:lstStyle/>
                    <a:p>
                      <a:r>
                        <a:rPr lang="en-GB" dirty="0">
                          <a:effectLst/>
                        </a:rPr>
                        <a:t>Continue daily communication</a:t>
                      </a:r>
                    </a:p>
                  </a:txBody>
                  <a:tcPr anchor="ctr"/>
                </a:tc>
                <a:extLst>
                  <a:ext uri="{0D108BD9-81ED-4DB2-BD59-A6C34878D82A}">
                    <a16:rowId xmlns:a16="http://schemas.microsoft.com/office/drawing/2014/main" val="60443598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C3E7FC">
                <a:alpha val="100000"/>
              </a:srgbClr>
            </a:gs>
            <a:gs pos="100000">
              <a:srgbClr val="2F3659">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361360" y="2090909"/>
            <a:ext cx="19010720" cy="5219568"/>
          </a:xfrm>
          <a:custGeom>
            <a:avLst/>
            <a:gdLst/>
            <a:ahLst/>
            <a:cxnLst/>
            <a:rect l="l" t="t" r="r" b="b"/>
            <a:pathLst>
              <a:path w="19010720" h="5219568">
                <a:moveTo>
                  <a:pt x="0" y="0"/>
                </a:moveTo>
                <a:lnTo>
                  <a:pt x="19010720" y="0"/>
                </a:lnTo>
                <a:lnTo>
                  <a:pt x="19010720" y="5219568"/>
                </a:lnTo>
                <a:lnTo>
                  <a:pt x="0" y="52195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DE"/>
          </a:p>
        </p:txBody>
      </p:sp>
      <p:grpSp>
        <p:nvGrpSpPr>
          <p:cNvPr id="3" name="Group 3"/>
          <p:cNvGrpSpPr/>
          <p:nvPr/>
        </p:nvGrpSpPr>
        <p:grpSpPr>
          <a:xfrm>
            <a:off x="-1562147" y="7078862"/>
            <a:ext cx="21205933" cy="8243149"/>
            <a:chOff x="0" y="0"/>
            <a:chExt cx="5585102" cy="2171035"/>
          </a:xfrm>
        </p:grpSpPr>
        <p:sp>
          <p:nvSpPr>
            <p:cNvPr id="4" name="Freeform 4"/>
            <p:cNvSpPr/>
            <p:nvPr/>
          </p:nvSpPr>
          <p:spPr>
            <a:xfrm>
              <a:off x="0" y="0"/>
              <a:ext cx="5585102" cy="2171035"/>
            </a:xfrm>
            <a:custGeom>
              <a:avLst/>
              <a:gdLst/>
              <a:ahLst/>
              <a:cxnLst/>
              <a:rect l="l" t="t" r="r" b="b"/>
              <a:pathLst>
                <a:path w="5585102" h="2171035">
                  <a:moveTo>
                    <a:pt x="0" y="0"/>
                  </a:moveTo>
                  <a:lnTo>
                    <a:pt x="5585102" y="0"/>
                  </a:lnTo>
                  <a:lnTo>
                    <a:pt x="5585102" y="2171035"/>
                  </a:lnTo>
                  <a:lnTo>
                    <a:pt x="0" y="2171035"/>
                  </a:lnTo>
                  <a:close/>
                </a:path>
              </a:pathLst>
            </a:custGeom>
            <a:solidFill>
              <a:srgbClr val="3E3B39"/>
            </a:solidFill>
          </p:spPr>
          <p:txBody>
            <a:bodyPr/>
            <a:lstStyle/>
            <a:p>
              <a:endParaRPr lang="en-DE"/>
            </a:p>
          </p:txBody>
        </p:sp>
        <p:sp>
          <p:nvSpPr>
            <p:cNvPr id="5" name="TextBox 5"/>
            <p:cNvSpPr txBox="1"/>
            <p:nvPr/>
          </p:nvSpPr>
          <p:spPr>
            <a:xfrm>
              <a:off x="0" y="-9525"/>
              <a:ext cx="5585102" cy="2180560"/>
            </a:xfrm>
            <a:prstGeom prst="rect">
              <a:avLst/>
            </a:prstGeom>
          </p:spPr>
          <p:txBody>
            <a:bodyPr lIns="50800" tIns="50800" rIns="50800" bIns="50800" rtlCol="0" anchor="ctr"/>
            <a:lstStyle/>
            <a:p>
              <a:pPr algn="ctr">
                <a:lnSpc>
                  <a:spcPts val="2363"/>
                </a:lnSpc>
              </a:pPr>
              <a:endParaRPr/>
            </a:p>
          </p:txBody>
        </p:sp>
      </p:grpSp>
      <p:sp>
        <p:nvSpPr>
          <p:cNvPr id="6" name="Freeform 6"/>
          <p:cNvSpPr/>
          <p:nvPr/>
        </p:nvSpPr>
        <p:spPr>
          <a:xfrm>
            <a:off x="14224926" y="-395859"/>
            <a:ext cx="4424434" cy="2501816"/>
          </a:xfrm>
          <a:custGeom>
            <a:avLst/>
            <a:gdLst/>
            <a:ahLst/>
            <a:cxnLst/>
            <a:rect l="l" t="t" r="r" b="b"/>
            <a:pathLst>
              <a:path w="4424434" h="2501816">
                <a:moveTo>
                  <a:pt x="0" y="0"/>
                </a:moveTo>
                <a:lnTo>
                  <a:pt x="4424434" y="0"/>
                </a:lnTo>
                <a:lnTo>
                  <a:pt x="4424434" y="2501816"/>
                </a:lnTo>
                <a:lnTo>
                  <a:pt x="0" y="2501816"/>
                </a:lnTo>
                <a:lnTo>
                  <a:pt x="0"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DE"/>
          </a:p>
        </p:txBody>
      </p:sp>
      <p:sp>
        <p:nvSpPr>
          <p:cNvPr id="7" name="Freeform 7"/>
          <p:cNvSpPr/>
          <p:nvPr/>
        </p:nvSpPr>
        <p:spPr>
          <a:xfrm flipH="1">
            <a:off x="-1318173" y="2069925"/>
            <a:ext cx="3871000" cy="2188874"/>
          </a:xfrm>
          <a:custGeom>
            <a:avLst/>
            <a:gdLst/>
            <a:ahLst/>
            <a:cxnLst/>
            <a:rect l="l" t="t" r="r" b="b"/>
            <a:pathLst>
              <a:path w="3871000" h="2188874">
                <a:moveTo>
                  <a:pt x="3870999" y="0"/>
                </a:moveTo>
                <a:lnTo>
                  <a:pt x="0" y="0"/>
                </a:lnTo>
                <a:lnTo>
                  <a:pt x="0" y="2188874"/>
                </a:lnTo>
                <a:lnTo>
                  <a:pt x="3870999" y="2188874"/>
                </a:lnTo>
                <a:lnTo>
                  <a:pt x="3870999" y="0"/>
                </a:lnTo>
                <a:close/>
              </a:path>
            </a:pathLst>
          </a:custGeom>
          <a:blipFill>
            <a:blip r:embed="rId4">
              <a:alphaModFix amt="25000"/>
              <a:extLst>
                <a:ext uri="{96DAC541-7B7A-43D3-8B79-37D633B846F1}">
                  <asvg:svgBlip xmlns:asvg="http://schemas.microsoft.com/office/drawing/2016/SVG/main" r:embed="rId5"/>
                </a:ext>
              </a:extLst>
            </a:blip>
            <a:stretch>
              <a:fillRect/>
            </a:stretch>
          </a:blipFill>
        </p:spPr>
        <p:txBody>
          <a:bodyPr/>
          <a:lstStyle/>
          <a:p>
            <a:endParaRPr lang="en-DE"/>
          </a:p>
        </p:txBody>
      </p:sp>
      <p:grpSp>
        <p:nvGrpSpPr>
          <p:cNvPr id="8" name="Group 8"/>
          <p:cNvGrpSpPr/>
          <p:nvPr/>
        </p:nvGrpSpPr>
        <p:grpSpPr>
          <a:xfrm>
            <a:off x="553409" y="8615851"/>
            <a:ext cx="17181183" cy="110498"/>
            <a:chOff x="0" y="0"/>
            <a:chExt cx="22908243" cy="147331"/>
          </a:xfrm>
        </p:grpSpPr>
        <p:grpSp>
          <p:nvGrpSpPr>
            <p:cNvPr id="9" name="Group 9"/>
            <p:cNvGrpSpPr/>
            <p:nvPr/>
          </p:nvGrpSpPr>
          <p:grpSpPr>
            <a:xfrm>
              <a:off x="0" y="0"/>
              <a:ext cx="3092220" cy="147331"/>
              <a:chOff x="0" y="0"/>
              <a:chExt cx="610809" cy="29102"/>
            </a:xfrm>
          </p:grpSpPr>
          <p:sp>
            <p:nvSpPr>
              <p:cNvPr id="10" name="Freeform 10"/>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1" name="TextBox 11"/>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3968711" y="0"/>
              <a:ext cx="3092220" cy="147331"/>
              <a:chOff x="0" y="0"/>
              <a:chExt cx="610809" cy="29102"/>
            </a:xfrm>
          </p:grpSpPr>
          <p:sp>
            <p:nvSpPr>
              <p:cNvPr id="13" name="Freeform 13"/>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4" name="TextBox 14"/>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7937231" y="0"/>
              <a:ext cx="3092220" cy="147331"/>
              <a:chOff x="0" y="0"/>
              <a:chExt cx="610809" cy="29102"/>
            </a:xfrm>
          </p:grpSpPr>
          <p:sp>
            <p:nvSpPr>
              <p:cNvPr id="16" name="Freeform 16"/>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17" name="TextBox 17"/>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11905941" y="0"/>
              <a:ext cx="3092220" cy="147331"/>
              <a:chOff x="0" y="0"/>
              <a:chExt cx="610809" cy="29102"/>
            </a:xfrm>
          </p:grpSpPr>
          <p:sp>
            <p:nvSpPr>
              <p:cNvPr id="19" name="Freeform 19"/>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0" name="TextBox 20"/>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5847313" y="0"/>
              <a:ext cx="3092220" cy="147331"/>
              <a:chOff x="0" y="0"/>
              <a:chExt cx="610809" cy="29102"/>
            </a:xfrm>
          </p:grpSpPr>
          <p:sp>
            <p:nvSpPr>
              <p:cNvPr id="22" name="Freeform 22"/>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3" name="TextBox 23"/>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9816024" y="0"/>
              <a:ext cx="3092220" cy="147331"/>
              <a:chOff x="0" y="0"/>
              <a:chExt cx="610809" cy="29102"/>
            </a:xfrm>
          </p:grpSpPr>
          <p:sp>
            <p:nvSpPr>
              <p:cNvPr id="25" name="Freeform 25"/>
              <p:cNvSpPr/>
              <p:nvPr/>
            </p:nvSpPr>
            <p:spPr>
              <a:xfrm>
                <a:off x="0" y="0"/>
                <a:ext cx="610809" cy="29102"/>
              </a:xfrm>
              <a:custGeom>
                <a:avLst/>
                <a:gdLst/>
                <a:ahLst/>
                <a:cxnLst/>
                <a:rect l="l" t="t" r="r" b="b"/>
                <a:pathLst>
                  <a:path w="610809" h="29102">
                    <a:moveTo>
                      <a:pt x="0" y="0"/>
                    </a:moveTo>
                    <a:lnTo>
                      <a:pt x="610809" y="0"/>
                    </a:lnTo>
                    <a:lnTo>
                      <a:pt x="610809" y="29102"/>
                    </a:lnTo>
                    <a:lnTo>
                      <a:pt x="0" y="29102"/>
                    </a:lnTo>
                    <a:close/>
                  </a:path>
                </a:pathLst>
              </a:custGeom>
              <a:solidFill>
                <a:srgbClr val="FFFFFF"/>
              </a:solidFill>
            </p:spPr>
            <p:txBody>
              <a:bodyPr/>
              <a:lstStyle/>
              <a:p>
                <a:endParaRPr lang="en-DE"/>
              </a:p>
            </p:txBody>
          </p:sp>
          <p:sp>
            <p:nvSpPr>
              <p:cNvPr id="26" name="TextBox 26"/>
              <p:cNvSpPr txBox="1"/>
              <p:nvPr/>
            </p:nvSpPr>
            <p:spPr>
              <a:xfrm>
                <a:off x="0" y="-38100"/>
                <a:ext cx="610809" cy="67202"/>
              </a:xfrm>
              <a:prstGeom prst="rect">
                <a:avLst/>
              </a:prstGeom>
            </p:spPr>
            <p:txBody>
              <a:bodyPr lIns="50800" tIns="50800" rIns="50800" bIns="50800" rtlCol="0" anchor="ctr"/>
              <a:lstStyle/>
              <a:p>
                <a:pPr algn="ctr">
                  <a:lnSpc>
                    <a:spcPts val="2659"/>
                  </a:lnSpc>
                  <a:spcBef>
                    <a:spcPct val="0"/>
                  </a:spcBef>
                </a:pPr>
                <a:endParaRPr/>
              </a:p>
            </p:txBody>
          </p:sp>
        </p:grpSp>
      </p:grpSp>
      <p:sp>
        <p:nvSpPr>
          <p:cNvPr id="27" name="Freeform 27"/>
          <p:cNvSpPr/>
          <p:nvPr/>
        </p:nvSpPr>
        <p:spPr>
          <a:xfrm flipH="1">
            <a:off x="11028289" y="5626535"/>
            <a:ext cx="8250348" cy="2625111"/>
          </a:xfrm>
          <a:custGeom>
            <a:avLst/>
            <a:gdLst/>
            <a:ahLst/>
            <a:cxnLst/>
            <a:rect l="l" t="t" r="r" b="b"/>
            <a:pathLst>
              <a:path w="8250348" h="2625111">
                <a:moveTo>
                  <a:pt x="8250348" y="0"/>
                </a:moveTo>
                <a:lnTo>
                  <a:pt x="0" y="0"/>
                </a:lnTo>
                <a:lnTo>
                  <a:pt x="0" y="2625111"/>
                </a:lnTo>
                <a:lnTo>
                  <a:pt x="8250348" y="2625111"/>
                </a:lnTo>
                <a:lnTo>
                  <a:pt x="8250348"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DE"/>
          </a:p>
        </p:txBody>
      </p:sp>
      <p:sp>
        <p:nvSpPr>
          <p:cNvPr id="28" name="Freeform 28"/>
          <p:cNvSpPr/>
          <p:nvPr/>
        </p:nvSpPr>
        <p:spPr>
          <a:xfrm>
            <a:off x="1127577" y="3320833"/>
            <a:ext cx="778068" cy="4425029"/>
          </a:xfrm>
          <a:custGeom>
            <a:avLst/>
            <a:gdLst/>
            <a:ahLst/>
            <a:cxnLst/>
            <a:rect l="l" t="t" r="r" b="b"/>
            <a:pathLst>
              <a:path w="778068" h="4425029">
                <a:moveTo>
                  <a:pt x="0" y="0"/>
                </a:moveTo>
                <a:lnTo>
                  <a:pt x="778068" y="0"/>
                </a:lnTo>
                <a:lnTo>
                  <a:pt x="778068" y="4425029"/>
                </a:lnTo>
                <a:lnTo>
                  <a:pt x="0" y="4425029"/>
                </a:lnTo>
                <a:lnTo>
                  <a:pt x="0" y="0"/>
                </a:lnTo>
                <a:close/>
              </a:path>
            </a:pathLst>
          </a:custGeom>
          <a:blipFill>
            <a:blip r:embed="rId8"/>
            <a:stretch>
              <a:fillRect/>
            </a:stretch>
          </a:blipFill>
        </p:spPr>
        <p:txBody>
          <a:bodyPr/>
          <a:lstStyle/>
          <a:p>
            <a:endParaRPr lang="en-DE"/>
          </a:p>
        </p:txBody>
      </p:sp>
      <p:sp>
        <p:nvSpPr>
          <p:cNvPr id="29" name="TextBox 29"/>
          <p:cNvSpPr txBox="1"/>
          <p:nvPr/>
        </p:nvSpPr>
        <p:spPr>
          <a:xfrm>
            <a:off x="2937954" y="1504540"/>
            <a:ext cx="12412092" cy="1952300"/>
          </a:xfrm>
          <a:prstGeom prst="rect">
            <a:avLst/>
          </a:prstGeom>
        </p:spPr>
        <p:txBody>
          <a:bodyPr lIns="0" tIns="0" rIns="0" bIns="0" rtlCol="0" anchor="t">
            <a:spAutoFit/>
          </a:bodyPr>
          <a:lstStyle/>
          <a:p>
            <a:pPr marL="0" lvl="0" indent="0" algn="ctr">
              <a:lnSpc>
                <a:spcPts val="12416"/>
              </a:lnSpc>
              <a:spcBef>
                <a:spcPct val="0"/>
              </a:spcBef>
            </a:pPr>
            <a:r>
              <a:rPr lang="en-US" sz="16555" u="none" strike="noStrike">
                <a:solidFill>
                  <a:srgbClr val="FFFFFF"/>
                </a:solidFill>
                <a:latin typeface="Cubao"/>
                <a:ea typeface="Cubao"/>
                <a:cs typeface="Cubao"/>
                <a:sym typeface="Cubao"/>
              </a:rPr>
              <a:t>THANK</a:t>
            </a:r>
          </a:p>
        </p:txBody>
      </p:sp>
      <p:sp>
        <p:nvSpPr>
          <p:cNvPr id="30" name="Freeform 30"/>
          <p:cNvSpPr/>
          <p:nvPr/>
        </p:nvSpPr>
        <p:spPr>
          <a:xfrm rot="1574474">
            <a:off x="1469179" y="1742224"/>
            <a:ext cx="323464" cy="308100"/>
          </a:xfrm>
          <a:custGeom>
            <a:avLst/>
            <a:gdLst/>
            <a:ahLst/>
            <a:cxnLst/>
            <a:rect l="l" t="t" r="r" b="b"/>
            <a:pathLst>
              <a:path w="323464" h="308100">
                <a:moveTo>
                  <a:pt x="0" y="0"/>
                </a:moveTo>
                <a:lnTo>
                  <a:pt x="323464" y="0"/>
                </a:lnTo>
                <a:lnTo>
                  <a:pt x="323464" y="308099"/>
                </a:lnTo>
                <a:lnTo>
                  <a:pt x="0" y="30809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DE"/>
          </a:p>
        </p:txBody>
      </p:sp>
      <p:sp>
        <p:nvSpPr>
          <p:cNvPr id="31" name="Freeform 31"/>
          <p:cNvSpPr/>
          <p:nvPr/>
        </p:nvSpPr>
        <p:spPr>
          <a:xfrm rot="-795656">
            <a:off x="16468167" y="3248662"/>
            <a:ext cx="323464" cy="308100"/>
          </a:xfrm>
          <a:custGeom>
            <a:avLst/>
            <a:gdLst/>
            <a:ahLst/>
            <a:cxnLst/>
            <a:rect l="l" t="t" r="r" b="b"/>
            <a:pathLst>
              <a:path w="323464" h="308100">
                <a:moveTo>
                  <a:pt x="0" y="0"/>
                </a:moveTo>
                <a:lnTo>
                  <a:pt x="323464" y="0"/>
                </a:lnTo>
                <a:lnTo>
                  <a:pt x="323464" y="308099"/>
                </a:lnTo>
                <a:lnTo>
                  <a:pt x="0" y="30809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DE"/>
          </a:p>
        </p:txBody>
      </p:sp>
      <p:sp>
        <p:nvSpPr>
          <p:cNvPr id="32" name="Freeform 32"/>
          <p:cNvSpPr/>
          <p:nvPr/>
        </p:nvSpPr>
        <p:spPr>
          <a:xfrm rot="-795656">
            <a:off x="5634223" y="975557"/>
            <a:ext cx="323464" cy="308100"/>
          </a:xfrm>
          <a:custGeom>
            <a:avLst/>
            <a:gdLst/>
            <a:ahLst/>
            <a:cxnLst/>
            <a:rect l="l" t="t" r="r" b="b"/>
            <a:pathLst>
              <a:path w="323464" h="308100">
                <a:moveTo>
                  <a:pt x="0" y="0"/>
                </a:moveTo>
                <a:lnTo>
                  <a:pt x="323465" y="0"/>
                </a:lnTo>
                <a:lnTo>
                  <a:pt x="323465" y="308099"/>
                </a:lnTo>
                <a:lnTo>
                  <a:pt x="0" y="30809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DE"/>
          </a:p>
        </p:txBody>
      </p:sp>
      <p:sp>
        <p:nvSpPr>
          <p:cNvPr id="33" name="Freeform 33"/>
          <p:cNvSpPr/>
          <p:nvPr/>
        </p:nvSpPr>
        <p:spPr>
          <a:xfrm rot="-795656">
            <a:off x="12163516" y="1100914"/>
            <a:ext cx="127239" cy="121195"/>
          </a:xfrm>
          <a:custGeom>
            <a:avLst/>
            <a:gdLst/>
            <a:ahLst/>
            <a:cxnLst/>
            <a:rect l="l" t="t" r="r" b="b"/>
            <a:pathLst>
              <a:path w="127239" h="121195">
                <a:moveTo>
                  <a:pt x="0" y="0"/>
                </a:moveTo>
                <a:lnTo>
                  <a:pt x="127239" y="0"/>
                </a:lnTo>
                <a:lnTo>
                  <a:pt x="127239" y="121195"/>
                </a:lnTo>
                <a:lnTo>
                  <a:pt x="0" y="12119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DE"/>
          </a:p>
        </p:txBody>
      </p:sp>
      <p:sp>
        <p:nvSpPr>
          <p:cNvPr id="34" name="TextBox 34"/>
          <p:cNvSpPr txBox="1"/>
          <p:nvPr/>
        </p:nvSpPr>
        <p:spPr>
          <a:xfrm>
            <a:off x="3134537" y="3158234"/>
            <a:ext cx="12018926" cy="4442879"/>
          </a:xfrm>
          <a:prstGeom prst="rect">
            <a:avLst/>
          </a:prstGeom>
        </p:spPr>
        <p:txBody>
          <a:bodyPr lIns="0" tIns="0" rIns="0" bIns="0" rtlCol="0" anchor="t">
            <a:spAutoFit/>
          </a:bodyPr>
          <a:lstStyle/>
          <a:p>
            <a:pPr marL="0" lvl="0" indent="0" algn="ctr">
              <a:lnSpc>
                <a:spcPts val="15604"/>
              </a:lnSpc>
              <a:spcBef>
                <a:spcPct val="0"/>
              </a:spcBef>
            </a:pPr>
            <a:r>
              <a:rPr lang="en-US" sz="20805" u="none" strike="noStrike">
                <a:solidFill>
                  <a:srgbClr val="F9C324"/>
                </a:solidFill>
                <a:latin typeface="Cubao"/>
                <a:ea typeface="Cubao"/>
                <a:cs typeface="Cubao"/>
                <a:sym typeface="Cubao"/>
              </a:rPr>
              <a:t>YOU</a:t>
            </a:r>
          </a:p>
          <a:p>
            <a:pPr marL="0" lvl="0" indent="0" algn="ctr">
              <a:lnSpc>
                <a:spcPts val="15604"/>
              </a:lnSpc>
              <a:spcBef>
                <a:spcPct val="0"/>
              </a:spcBef>
            </a:pPr>
            <a:endParaRPr lang="en-US" sz="20805" u="none" strike="noStrike">
              <a:solidFill>
                <a:srgbClr val="F9C324"/>
              </a:solidFill>
              <a:latin typeface="Cubao"/>
              <a:ea typeface="Cubao"/>
              <a:cs typeface="Cubao"/>
              <a:sym typeface="Cubao"/>
            </a:endParaRPr>
          </a:p>
        </p:txBody>
      </p:sp>
      <p:sp>
        <p:nvSpPr>
          <p:cNvPr id="35" name="TextBox 35"/>
          <p:cNvSpPr txBox="1"/>
          <p:nvPr/>
        </p:nvSpPr>
        <p:spPr>
          <a:xfrm>
            <a:off x="2910973" y="5476197"/>
            <a:ext cx="12412092" cy="611502"/>
          </a:xfrm>
          <a:prstGeom prst="rect">
            <a:avLst/>
          </a:prstGeom>
        </p:spPr>
        <p:txBody>
          <a:bodyPr lIns="0" tIns="0" rIns="0" bIns="0" rtlCol="0" anchor="t">
            <a:spAutoFit/>
          </a:bodyPr>
          <a:lstStyle/>
          <a:p>
            <a:pPr marL="0" lvl="0" indent="0" algn="ctr">
              <a:lnSpc>
                <a:spcPts val="3899"/>
              </a:lnSpc>
              <a:spcBef>
                <a:spcPct val="0"/>
              </a:spcBef>
            </a:pPr>
            <a:r>
              <a:rPr lang="en-US" sz="5199">
                <a:solidFill>
                  <a:srgbClr val="FFFFFF"/>
                </a:solidFill>
                <a:latin typeface="Cubao"/>
                <a:ea typeface="Cubao"/>
                <a:cs typeface="Cubao"/>
                <a:sym typeface="Cubao"/>
              </a:rPr>
              <a:t>WHAT CAN WE IMPROVE?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579</Words>
  <Application>Microsoft Macintosh PowerPoint</Application>
  <PresentationFormat>Custom</PresentationFormat>
  <Paragraphs>102</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Cubao</vt:lpstr>
      <vt:lpstr>Public Sans</vt:lpstr>
      <vt:lpstr>Arial</vt:lpstr>
      <vt:lpstr>Public Sans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MoveWith</dc:title>
  <cp:lastModifiedBy>Hossain, Md Farhad</cp:lastModifiedBy>
  <cp:revision>8</cp:revision>
  <dcterms:created xsi:type="dcterms:W3CDTF">2006-08-16T00:00:00Z</dcterms:created>
  <dcterms:modified xsi:type="dcterms:W3CDTF">2025-12-02T22:12:23Z</dcterms:modified>
  <dc:identifier>DAG6Y20koBw</dc:identifier>
</cp:coreProperties>
</file>